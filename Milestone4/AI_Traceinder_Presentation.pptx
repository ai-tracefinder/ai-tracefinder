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46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65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Scanner Identification System using Machine Learning and Deep Learning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2460"/>
            <a:ext cx="666750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Abstract: Unveiling the Source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03063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837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02454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7447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Overview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235172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project details a robust system for identifying the source scanner of digital documents using advanced Machine Learning (ML) and Deep Learning (DL) techniques.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603063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51396" y="2837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02454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7447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235172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Leveraging image processing and classification algorithms, the system accurately distinguishes between different scanner models based on subtle forensic artifacts.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603063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74568" y="2837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02454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7447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235172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developed solution is deployed as an intuitive web application using Streamlit, facilitating real-time analysis and user interaction.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D1452A-441A-DFA3-D90B-7E77588FD118}"/>
              </a:ext>
            </a:extLst>
          </p:cNvPr>
          <p:cNvSpPr/>
          <p:nvPr/>
        </p:nvSpPr>
        <p:spPr>
          <a:xfrm>
            <a:off x="12698652" y="7538225"/>
            <a:ext cx="1920597" cy="680224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122366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Introduction: The Crucial Role of Scanner Identification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74783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 an era of increasing digital document forgery and manipulation, identifying the originating source of scanned documents is paramount. This project addresses the growing need for reliable forensic tools.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30466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Our system acts as a crucial aid in digital forensics, combating fraud, and enhancing document security by pinpointing the specific brand and model of the scanner used to create a digital image.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25861"/>
            <a:ext cx="4885015" cy="48850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453B59-FC58-B10C-BB73-50844F01E091}"/>
              </a:ext>
            </a:extLst>
          </p:cNvPr>
          <p:cNvSpPr/>
          <p:nvPr/>
        </p:nvSpPr>
        <p:spPr>
          <a:xfrm>
            <a:off x="12645483" y="7515922"/>
            <a:ext cx="1984917" cy="713678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0071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Statement: The Challenge of Digital Fingerprints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37482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Identifying scanner brands from scanned images presents significant challenges due to: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35578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Subtle, often imperceptible, microscopic patterns introduced by each scanner.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608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Variations in scanning resolutions, lighting, and document types.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60308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need for high accuracy and robustness against image manipulation.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8327"/>
            <a:ext cx="103554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Objectives: Precision and Transparency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918930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4270" y="1949410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27621" y="20731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856667"/>
            <a:ext cx="30349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Scanner Classification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34708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Develop and evaluate ML/DL models for accurate scanner brand and model classification.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1918930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59027" y="1949410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462498" y="20731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285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Deployment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34708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a user-friendly Streamlit application for practical, real-world usage.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556998"/>
            <a:ext cx="6407944" cy="2774156"/>
          </a:xfrm>
          <a:prstGeom prst="roundRect">
            <a:avLst>
              <a:gd name="adj" fmla="val 3434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4270" y="4587478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27621" y="47111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494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Explainability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5985153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Incorporate techniques like Grad-CAM/SHAP to understand model decisions, enhancing trust and auditability.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556998"/>
            <a:ext cx="6408063" cy="2774156"/>
          </a:xfrm>
          <a:prstGeom prst="roundRect">
            <a:avLst>
              <a:gd name="adj" fmla="val 3434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59027" y="4587478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E6DED2">
              <a:alpha val="50000"/>
            </a:srgbClr>
          </a:solidFill>
          <a:ln/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462498" y="47111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494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Logging &amp; Reporting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598515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Establish comprehensive logging and reporting mechanisms for system performance and usage.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5549FE-C333-CA2F-8BC3-B7399880D8F8}"/>
              </a:ext>
            </a:extLst>
          </p:cNvPr>
          <p:cNvSpPr/>
          <p:nvPr/>
        </p:nvSpPr>
        <p:spPr>
          <a:xfrm>
            <a:off x="12545122" y="7467243"/>
            <a:ext cx="2062976" cy="691376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381" y="598527"/>
            <a:ext cx="7625239" cy="108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Literature Review: Foundations in Forensics and AI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03459" y="2008823"/>
            <a:ext cx="30480" cy="5622250"/>
          </a:xfrm>
          <a:prstGeom prst="roundRect">
            <a:avLst>
              <a:gd name="adj" fmla="val 298993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217057" y="2237661"/>
            <a:ext cx="650915" cy="30480"/>
          </a:xfrm>
          <a:prstGeom prst="roundRect">
            <a:avLst>
              <a:gd name="adj" fmla="val 298993"/>
            </a:avLst>
          </a:prstGeom>
          <a:solidFill>
            <a:srgbClr val="CCC4B8"/>
          </a:solidFill>
          <a:ln/>
        </p:spPr>
      </p:sp>
      <p:sp>
        <p:nvSpPr>
          <p:cNvPr id="6" name="Shape 3"/>
          <p:cNvSpPr/>
          <p:nvPr/>
        </p:nvSpPr>
        <p:spPr>
          <a:xfrm>
            <a:off x="759381" y="2008823"/>
            <a:ext cx="488156" cy="488156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0760" y="2049482"/>
            <a:ext cx="325398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088356" y="2083356"/>
            <a:ext cx="4210288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Traditional Document Forensics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088356" y="2552462"/>
            <a:ext cx="6296263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of classic methods including ink analysis, paper fiber examination, and watermark detection, providing a historical context.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217057" y="4256365"/>
            <a:ext cx="650915" cy="30480"/>
          </a:xfrm>
          <a:prstGeom prst="roundRect">
            <a:avLst>
              <a:gd name="adj" fmla="val 298993"/>
            </a:avLst>
          </a:prstGeom>
          <a:solidFill>
            <a:srgbClr val="CCC4B8"/>
          </a:solidFill>
          <a:ln/>
        </p:spPr>
      </p:sp>
      <p:sp>
        <p:nvSpPr>
          <p:cNvPr id="11" name="Shape 8"/>
          <p:cNvSpPr/>
          <p:nvPr/>
        </p:nvSpPr>
        <p:spPr>
          <a:xfrm>
            <a:off x="759381" y="4027527"/>
            <a:ext cx="488156" cy="488156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0760" y="4068187"/>
            <a:ext cx="325398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2088356" y="4102060"/>
            <a:ext cx="544901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Machine Learning in Image Classification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088356" y="4571167"/>
            <a:ext cx="6296263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Exploration of foundational ML algorithms (SVM, Logistic Regression) and their application in image feature recognition.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217057" y="6275070"/>
            <a:ext cx="650915" cy="30480"/>
          </a:xfrm>
          <a:prstGeom prst="roundRect">
            <a:avLst>
              <a:gd name="adj" fmla="val 298993"/>
            </a:avLst>
          </a:prstGeom>
          <a:solidFill>
            <a:srgbClr val="CCC4B8"/>
          </a:solidFill>
          <a:ln/>
        </p:spPr>
      </p:sp>
      <p:sp>
        <p:nvSpPr>
          <p:cNvPr id="16" name="Shape 13"/>
          <p:cNvSpPr/>
          <p:nvPr/>
        </p:nvSpPr>
        <p:spPr>
          <a:xfrm>
            <a:off x="759381" y="6046232"/>
            <a:ext cx="488156" cy="488156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0760" y="6086892"/>
            <a:ext cx="325398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2088356" y="6120765"/>
            <a:ext cx="3941683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Deep Learning Advancements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2088356" y="6589871"/>
            <a:ext cx="6296263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Focus on Convolutional Neural Networks (CNNs) and their superior performance in complex image pattern learning and classification tasks.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3337" y="468868"/>
            <a:ext cx="7906107" cy="42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Architecture: A Multi-Layered Approach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337" y="1234559"/>
            <a:ext cx="10763607" cy="5054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22963" y="5018847"/>
            <a:ext cx="2361712" cy="29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187641" y="5398033"/>
            <a:ext cx="2897033" cy="23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Collect raw data from sources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618998" y="4194872"/>
            <a:ext cx="2361713" cy="29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18998" y="4574058"/>
            <a:ext cx="2823559" cy="23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Clean and engineer features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22799" y="3444372"/>
            <a:ext cx="2361712" cy="29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187477" y="3823558"/>
            <a:ext cx="2897034" cy="236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SVM, Logistic Regression, CNN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18998" y="2557418"/>
            <a:ext cx="2361713" cy="29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18998" y="2936604"/>
            <a:ext cx="2823559" cy="23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Interpret model predictions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22963" y="1869897"/>
            <a:ext cx="2361712" cy="29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187641" y="2249084"/>
            <a:ext cx="2897033" cy="23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Serve via Streamlit app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33337" y="6480572"/>
            <a:ext cx="1076360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architecture integrates data acquisition, feature engineering, model training, explainability modules, and a user-facing deployment, ensuring a robust and comprehensive solution.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933337" y="7216259"/>
            <a:ext cx="1076360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flows from raw scanned images through preprocessing, then into the ML/DL pipeline for classification, with results presented via the Streamlit interface.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912082-7B42-6E5A-FF6D-3E16830DB88D}"/>
              </a:ext>
            </a:extLst>
          </p:cNvPr>
          <p:cNvSpPr/>
          <p:nvPr/>
        </p:nvSpPr>
        <p:spPr>
          <a:xfrm>
            <a:off x="12607734" y="7457474"/>
            <a:ext cx="1933456" cy="691376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5337" y="402312"/>
            <a:ext cx="6544270" cy="365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&amp; Methodology: Training for Precision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695337" y="1132523"/>
            <a:ext cx="2191226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Description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695337" y="1552337"/>
            <a:ext cx="4441746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Scanner Types:</a:t>
            </a: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Comprehensive collection from Scanner A, B, C, and 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695337" y="2070854"/>
            <a:ext cx="4441746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Image Preprocessing:</a:t>
            </a: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Noise reduction, normalization, and cropping to isolate relevant features.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95337" y="2589371"/>
            <a:ext cx="4441746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Augmentation:</a:t>
            </a: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Rotations, flips, and intensity changes to enhance model generalization and robustness.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37" y="3221117"/>
            <a:ext cx="4441746" cy="44417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0938" y="1132523"/>
            <a:ext cx="2191226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00938" y="1570673"/>
            <a:ext cx="584240" cy="1133594"/>
          </a:xfrm>
          <a:prstGeom prst="roundRect">
            <a:avLst>
              <a:gd name="adj" fmla="val 36006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27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3460" y="2000488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31148" y="1716643"/>
            <a:ext cx="182594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31148" y="2090857"/>
            <a:ext cx="3711535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Statistical and textural feature extraction from image patches.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00938" y="2850237"/>
            <a:ext cx="584240" cy="1133594"/>
          </a:xfrm>
          <a:prstGeom prst="roundRect">
            <a:avLst>
              <a:gd name="adj" fmla="val 36006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27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3460" y="3280053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31148" y="2996208"/>
            <a:ext cx="1825943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Traditional ML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31148" y="3370421"/>
            <a:ext cx="3711535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Implementation of Support Vector Machines (SVM) and Logistic Regression for baseline classification.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500938" y="4129802"/>
            <a:ext cx="584240" cy="1367314"/>
          </a:xfrm>
          <a:prstGeom prst="roundRect">
            <a:avLst>
              <a:gd name="adj" fmla="val 36006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27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83460" y="4676537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31148" y="4275773"/>
            <a:ext cx="1874996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Deep Learning (CNN)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31148" y="4649986"/>
            <a:ext cx="3711535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Development and training of Convolutional Neural Networks using TensorFlow for advanced pattern recognition.</a:t>
            </a:r>
            <a:endParaRPr lang="en-US" sz="11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2B4EBD-190B-45EA-ED4B-BE5DB0829CF1}"/>
              </a:ext>
            </a:extLst>
          </p:cNvPr>
          <p:cNvSpPr/>
          <p:nvPr/>
        </p:nvSpPr>
        <p:spPr>
          <a:xfrm>
            <a:off x="12612029" y="7482468"/>
            <a:ext cx="1940312" cy="646771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3924"/>
            <a:ext cx="1005113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Deployment &amp; Conclusion: Real-World Impact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47875"/>
            <a:ext cx="62447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Deployment with Streamlit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252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Intuitive UI for image upload and analysis.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674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prediction with confidence scores.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096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Automated logging of predictions for auditing and system improvement.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047875"/>
            <a:ext cx="590454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 &amp; Future Enhancements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269998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project successfully developed a reliable scanner identification system, demonstrating high accuracy and interpretability.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4055150"/>
            <a:ext cx="340162" cy="3401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36637" y="4043839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Cloud hosting for scalability.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5200531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6637" y="5189220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Integration with real-time scanning pipelines.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6345912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6637" y="6334601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Expansion to include a wider array of scanner models.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B14AF-E34B-8B66-E0B2-4AB968DF656C}"/>
              </a:ext>
            </a:extLst>
          </p:cNvPr>
          <p:cNvSpPr/>
          <p:nvPr/>
        </p:nvSpPr>
        <p:spPr>
          <a:xfrm>
            <a:off x="12690088" y="7464902"/>
            <a:ext cx="1940312" cy="691376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651</Words>
  <Application>Microsoft Office PowerPoint</Application>
  <PresentationFormat>Custom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GANESH V</cp:lastModifiedBy>
  <cp:revision>3</cp:revision>
  <dcterms:created xsi:type="dcterms:W3CDTF">2026-01-23T06:56:31Z</dcterms:created>
  <dcterms:modified xsi:type="dcterms:W3CDTF">2026-01-23T07:03:54Z</dcterms:modified>
</cp:coreProperties>
</file>