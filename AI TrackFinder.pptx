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14630400" cy="8229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812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97280" y="2551176"/>
            <a:ext cx="12435840" cy="17282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0" i="0">
                <a:solidFill>
                  <a:srgbClr val="96B8F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750" b="0" i="0">
                <a:solidFill>
                  <a:srgbClr val="DFD5DE"/>
                </a:solidFill>
                <a:latin typeface="Microsoft JhengHei"/>
                <a:cs typeface="Microsoft JhengHe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0" i="0">
                <a:solidFill>
                  <a:srgbClr val="96B8F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31520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534656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0" i="0">
                <a:solidFill>
                  <a:srgbClr val="96B8F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057266" y="2479674"/>
            <a:ext cx="4515866" cy="7042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50" b="0" i="0">
                <a:solidFill>
                  <a:srgbClr val="96B8F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24356" y="3512362"/>
            <a:ext cx="12981686" cy="21043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50" b="0" i="0">
                <a:solidFill>
                  <a:srgbClr val="DFD5DE"/>
                </a:solidFill>
                <a:latin typeface="Microsoft JhengHei"/>
                <a:cs typeface="Microsoft JhengHe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486399" cy="822959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23010">
              <a:lnSpc>
                <a:spcPct val="100000"/>
              </a:lnSpc>
              <a:spcBef>
                <a:spcPts val="100"/>
              </a:spcBef>
            </a:pPr>
            <a:r>
              <a:rPr dirty="0"/>
              <a:t>AI </a:t>
            </a:r>
            <a:r>
              <a:rPr spc="-35" dirty="0"/>
              <a:t>TraceFinder</a:t>
            </a:r>
          </a:p>
        </p:txBody>
      </p:sp>
      <p:sp>
        <p:nvSpPr>
          <p:cNvPr id="4" name="object 4"/>
          <p:cNvSpPr/>
          <p:nvPr/>
        </p:nvSpPr>
        <p:spPr>
          <a:xfrm>
            <a:off x="6280403" y="5279135"/>
            <a:ext cx="2062480" cy="426720"/>
          </a:xfrm>
          <a:custGeom>
            <a:avLst/>
            <a:gdLst/>
            <a:ahLst/>
            <a:cxnLst/>
            <a:rect l="l" t="t" r="r" b="b"/>
            <a:pathLst>
              <a:path w="2062479" h="426720">
                <a:moveTo>
                  <a:pt x="2034667" y="0"/>
                </a:moveTo>
                <a:lnTo>
                  <a:pt x="27305" y="0"/>
                </a:lnTo>
                <a:lnTo>
                  <a:pt x="16662" y="2141"/>
                </a:lnTo>
                <a:lnTo>
                  <a:pt x="7985" y="7985"/>
                </a:lnTo>
                <a:lnTo>
                  <a:pt x="2141" y="16662"/>
                </a:lnTo>
                <a:lnTo>
                  <a:pt x="0" y="27305"/>
                </a:lnTo>
                <a:lnTo>
                  <a:pt x="0" y="399414"/>
                </a:lnTo>
                <a:lnTo>
                  <a:pt x="2141" y="410057"/>
                </a:lnTo>
                <a:lnTo>
                  <a:pt x="7985" y="418734"/>
                </a:lnTo>
                <a:lnTo>
                  <a:pt x="16662" y="424578"/>
                </a:lnTo>
                <a:lnTo>
                  <a:pt x="27305" y="426719"/>
                </a:lnTo>
                <a:lnTo>
                  <a:pt x="2034667" y="426719"/>
                </a:lnTo>
                <a:lnTo>
                  <a:pt x="2045309" y="424578"/>
                </a:lnTo>
                <a:lnTo>
                  <a:pt x="2053986" y="418734"/>
                </a:lnTo>
                <a:lnTo>
                  <a:pt x="2059830" y="410057"/>
                </a:lnTo>
                <a:lnTo>
                  <a:pt x="2061972" y="399414"/>
                </a:lnTo>
                <a:lnTo>
                  <a:pt x="2061972" y="27305"/>
                </a:lnTo>
                <a:lnTo>
                  <a:pt x="2059830" y="16662"/>
                </a:lnTo>
                <a:lnTo>
                  <a:pt x="2053986" y="7985"/>
                </a:lnTo>
                <a:lnTo>
                  <a:pt x="2045309" y="2141"/>
                </a:lnTo>
                <a:lnTo>
                  <a:pt x="2034667" y="0"/>
                </a:lnTo>
                <a:close/>
              </a:path>
            </a:pathLst>
          </a:custGeom>
          <a:solidFill>
            <a:srgbClr val="0017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914400" y="3451227"/>
            <a:ext cx="12981686" cy="21970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455920" marR="5080">
              <a:lnSpc>
                <a:spcPct val="138100"/>
              </a:lnSpc>
              <a:spcBef>
                <a:spcPts val="100"/>
              </a:spcBef>
            </a:pPr>
            <a:r>
              <a:rPr spc="-110" dirty="0"/>
              <a:t>An</a:t>
            </a:r>
            <a:r>
              <a:rPr spc="-140" dirty="0"/>
              <a:t> </a:t>
            </a:r>
            <a:r>
              <a:rPr spc="-110" dirty="0"/>
              <a:t>intelligent</a:t>
            </a:r>
            <a:r>
              <a:rPr spc="-70" dirty="0"/>
              <a:t> </a:t>
            </a:r>
            <a:r>
              <a:rPr spc="-110" dirty="0"/>
              <a:t>system</a:t>
            </a:r>
            <a:r>
              <a:rPr spc="-220" dirty="0"/>
              <a:t> </a:t>
            </a:r>
            <a:r>
              <a:rPr spc="-130" dirty="0"/>
              <a:t>designed</a:t>
            </a:r>
            <a:r>
              <a:rPr spc="-210" dirty="0"/>
              <a:t> </a:t>
            </a:r>
            <a:r>
              <a:rPr spc="-30" dirty="0"/>
              <a:t>to</a:t>
            </a:r>
            <a:r>
              <a:rPr spc="-190" dirty="0"/>
              <a:t> </a:t>
            </a:r>
            <a:r>
              <a:rPr spc="-114" dirty="0"/>
              <a:t>analyze</a:t>
            </a:r>
            <a:r>
              <a:rPr spc="-140" dirty="0"/>
              <a:t> </a:t>
            </a:r>
            <a:r>
              <a:rPr spc="-110" dirty="0"/>
              <a:t>scanned</a:t>
            </a:r>
            <a:r>
              <a:rPr spc="-200" dirty="0"/>
              <a:t> </a:t>
            </a:r>
            <a:r>
              <a:rPr spc="-145" dirty="0"/>
              <a:t>document</a:t>
            </a:r>
            <a:r>
              <a:rPr spc="-55" dirty="0"/>
              <a:t> </a:t>
            </a:r>
            <a:r>
              <a:rPr spc="-140" dirty="0"/>
              <a:t>images</a:t>
            </a:r>
            <a:r>
              <a:rPr spc="-130" dirty="0"/>
              <a:t> </a:t>
            </a:r>
            <a:r>
              <a:rPr spc="-95" dirty="0"/>
              <a:t>and</a:t>
            </a:r>
            <a:r>
              <a:rPr spc="-195" dirty="0"/>
              <a:t> </a:t>
            </a:r>
            <a:r>
              <a:rPr spc="-10" dirty="0"/>
              <a:t>identify </a:t>
            </a:r>
            <a:r>
              <a:rPr spc="-75" dirty="0"/>
              <a:t>their</a:t>
            </a:r>
            <a:r>
              <a:rPr spc="-50" dirty="0"/>
              <a:t> </a:t>
            </a:r>
            <a:r>
              <a:rPr spc="-114" dirty="0"/>
              <a:t>scanner</a:t>
            </a:r>
            <a:r>
              <a:rPr spc="-50" dirty="0"/>
              <a:t> </a:t>
            </a:r>
            <a:r>
              <a:rPr spc="-114" dirty="0"/>
              <a:t>source</a:t>
            </a:r>
            <a:r>
              <a:rPr spc="-100" dirty="0"/>
              <a:t> </a:t>
            </a:r>
            <a:r>
              <a:rPr spc="-105" dirty="0"/>
              <a:t>usingadvanced</a:t>
            </a:r>
            <a:r>
              <a:rPr spc="-215" dirty="0"/>
              <a:t> </a:t>
            </a:r>
            <a:r>
              <a:rPr spc="-120" dirty="0"/>
              <a:t>machine</a:t>
            </a:r>
            <a:r>
              <a:rPr spc="-130" dirty="0"/>
              <a:t> </a:t>
            </a:r>
            <a:r>
              <a:rPr spc="-95" dirty="0"/>
              <a:t>learningtechniques.</a:t>
            </a:r>
            <a:r>
              <a:rPr spc="35" dirty="0"/>
              <a:t> </a:t>
            </a:r>
            <a:r>
              <a:rPr spc="-80" dirty="0"/>
              <a:t>This</a:t>
            </a:r>
            <a:r>
              <a:rPr spc="-120" dirty="0"/>
              <a:t> </a:t>
            </a:r>
            <a:r>
              <a:rPr spc="-10" dirty="0"/>
              <a:t>project </a:t>
            </a:r>
            <a:r>
              <a:rPr spc="-130" dirty="0"/>
              <a:t>demonstrates</a:t>
            </a:r>
            <a:r>
              <a:rPr spc="-70" dirty="0"/>
              <a:t> </a:t>
            </a:r>
            <a:r>
              <a:rPr dirty="0"/>
              <a:t>a</a:t>
            </a:r>
            <a:r>
              <a:rPr spc="-85" dirty="0"/>
              <a:t> </a:t>
            </a:r>
            <a:r>
              <a:rPr spc="-130" dirty="0"/>
              <a:t>complete</a:t>
            </a:r>
            <a:r>
              <a:rPr spc="-95" dirty="0"/>
              <a:t> </a:t>
            </a:r>
            <a:r>
              <a:rPr spc="-105" dirty="0"/>
              <a:t>pipeline</a:t>
            </a:r>
            <a:r>
              <a:rPr spc="-95" dirty="0"/>
              <a:t> </a:t>
            </a:r>
            <a:r>
              <a:rPr spc="-80" dirty="0"/>
              <a:t>from</a:t>
            </a:r>
            <a:r>
              <a:rPr spc="-229" dirty="0"/>
              <a:t> </a:t>
            </a:r>
            <a:r>
              <a:rPr spc="-145" dirty="0"/>
              <a:t>image</a:t>
            </a:r>
            <a:r>
              <a:rPr spc="-95" dirty="0"/>
              <a:t> </a:t>
            </a:r>
            <a:r>
              <a:rPr spc="-105" dirty="0"/>
              <a:t>preprocessingto</a:t>
            </a:r>
            <a:r>
              <a:rPr spc="-165" dirty="0"/>
              <a:t> </a:t>
            </a:r>
            <a:r>
              <a:rPr spc="-110" dirty="0"/>
              <a:t>prediction</a:t>
            </a:r>
            <a:r>
              <a:rPr spc="-130" dirty="0"/>
              <a:t> </a:t>
            </a:r>
            <a:r>
              <a:rPr spc="-90" dirty="0"/>
              <a:t>through </a:t>
            </a:r>
            <a:r>
              <a:rPr spc="-60" dirty="0"/>
              <a:t>an</a:t>
            </a:r>
            <a:r>
              <a:rPr spc="-145" dirty="0"/>
              <a:t> </a:t>
            </a:r>
            <a:r>
              <a:rPr spc="-80" dirty="0"/>
              <a:t>intuitive</a:t>
            </a:r>
            <a:r>
              <a:rPr spc="-150" dirty="0"/>
              <a:t> </a:t>
            </a:r>
            <a:r>
              <a:rPr spc="-170" dirty="0"/>
              <a:t>web-</a:t>
            </a:r>
            <a:r>
              <a:rPr spc="-114" dirty="0"/>
              <a:t>based</a:t>
            </a:r>
            <a:r>
              <a:rPr spc="-185" dirty="0"/>
              <a:t> </a:t>
            </a:r>
            <a:r>
              <a:rPr spc="-10" dirty="0"/>
              <a:t>interface.</a:t>
            </a:r>
          </a:p>
          <a:p>
            <a:pPr marL="5443220">
              <a:lnSpc>
                <a:spcPct val="100000"/>
              </a:lnSpc>
              <a:spcBef>
                <a:spcPts val="50"/>
              </a:spcBef>
            </a:pPr>
            <a:endParaRPr sz="1650" dirty="0"/>
          </a:p>
          <a:p>
            <a:pPr marL="5591810" algn="l">
              <a:lnSpc>
                <a:spcPct val="100000"/>
              </a:lnSpc>
            </a:pPr>
            <a:endParaRPr lang="en-US" sz="1400" b="1" dirty="0">
              <a:latin typeface="Calibri"/>
              <a:cs typeface="Calibri"/>
            </a:endParaRPr>
          </a:p>
          <a:p>
            <a:pPr marL="5591810" algn="l">
              <a:lnSpc>
                <a:spcPct val="100000"/>
              </a:lnSpc>
            </a:pPr>
            <a:r>
              <a:rPr sz="1400" b="1" dirty="0">
                <a:latin typeface="Calibri"/>
                <a:cs typeface="Calibri"/>
              </a:rPr>
              <a:t>MADE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BY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spc="-20" dirty="0">
                <a:latin typeface="Calibri"/>
                <a:cs typeface="Calibri"/>
              </a:rPr>
              <a:t>JINAY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spc="-20" dirty="0">
                <a:latin typeface="Calibri"/>
                <a:cs typeface="Calibri"/>
              </a:rPr>
              <a:t>SHAH</a:t>
            </a:r>
            <a:endParaRPr sz="1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6103" y="960577"/>
            <a:ext cx="6577330" cy="613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850" b="0" spc="-30" dirty="0">
                <a:latin typeface="Calibri Light"/>
                <a:cs typeface="Calibri Light"/>
              </a:rPr>
              <a:t>Background</a:t>
            </a:r>
            <a:r>
              <a:rPr sz="3850" b="0" spc="-145" dirty="0">
                <a:latin typeface="Calibri Light"/>
                <a:cs typeface="Calibri Light"/>
              </a:rPr>
              <a:t> </a:t>
            </a:r>
            <a:r>
              <a:rPr sz="3850" b="0" dirty="0">
                <a:latin typeface="Calibri Light"/>
                <a:cs typeface="Calibri Light"/>
              </a:rPr>
              <a:t>&amp;</a:t>
            </a:r>
            <a:r>
              <a:rPr sz="3850" b="0" spc="-125" dirty="0">
                <a:latin typeface="Calibri Light"/>
                <a:cs typeface="Calibri Light"/>
              </a:rPr>
              <a:t> </a:t>
            </a:r>
            <a:r>
              <a:rPr sz="3850" b="0" spc="-30" dirty="0">
                <a:latin typeface="Calibri Light"/>
                <a:cs typeface="Calibri Light"/>
              </a:rPr>
              <a:t>Problem</a:t>
            </a:r>
            <a:r>
              <a:rPr sz="3850" b="0" spc="-155" dirty="0">
                <a:latin typeface="Calibri Light"/>
                <a:cs typeface="Calibri Light"/>
              </a:rPr>
              <a:t> </a:t>
            </a:r>
            <a:r>
              <a:rPr sz="3850" b="0" spc="-35" dirty="0">
                <a:latin typeface="Calibri Light"/>
                <a:cs typeface="Calibri Light"/>
              </a:rPr>
              <a:t>Statement</a:t>
            </a:r>
            <a:endParaRPr sz="385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86103" y="2036191"/>
            <a:ext cx="6649720" cy="2729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28575">
              <a:lnSpc>
                <a:spcPct val="138900"/>
              </a:lnSpc>
              <a:spcBef>
                <a:spcPts val="105"/>
              </a:spcBef>
            </a:pP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Every</a:t>
            </a:r>
            <a:r>
              <a:rPr sz="1500" spc="3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scanner</a:t>
            </a:r>
            <a:r>
              <a:rPr sz="1500" spc="-2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introduces</a:t>
            </a:r>
            <a:r>
              <a:rPr sz="1500" spc="-2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unique</a:t>
            </a:r>
            <a:r>
              <a:rPr sz="1500" spc="-2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DFD5DE"/>
                </a:solidFill>
                <a:latin typeface="Calibri"/>
                <a:cs typeface="Calibri"/>
              </a:rPr>
              <a:t>hardware-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level</a:t>
            </a:r>
            <a:r>
              <a:rPr sz="1500" spc="-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noise</a:t>
            </a:r>
            <a:r>
              <a:rPr sz="1500" spc="-1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and</a:t>
            </a:r>
            <a:r>
              <a:rPr sz="1500" spc="-2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artifacts</a:t>
            </a:r>
            <a:r>
              <a:rPr sz="1500" spc="-4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due</a:t>
            </a:r>
            <a:r>
              <a:rPr sz="1500" spc="-1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to</a:t>
            </a:r>
            <a:r>
              <a:rPr sz="1500" spc="-2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DFD5DE"/>
                </a:solidFill>
                <a:latin typeface="Calibri"/>
                <a:cs typeface="Calibri"/>
              </a:rPr>
              <a:t>sensors,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optics,</a:t>
            </a:r>
            <a:r>
              <a:rPr sz="1500" spc="-5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and</a:t>
            </a:r>
            <a:r>
              <a:rPr sz="1500" spc="-2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internal</a:t>
            </a:r>
            <a:r>
              <a:rPr sz="1500" spc="-3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processing</a:t>
            </a:r>
            <a:r>
              <a:rPr sz="1500" spc="-2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mechanisms.</a:t>
            </a:r>
            <a:r>
              <a:rPr sz="1500" spc="-3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These</a:t>
            </a:r>
            <a:r>
              <a:rPr sz="1500" spc="-1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microscopic</a:t>
            </a:r>
            <a:r>
              <a:rPr sz="1500" spc="-2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imperfections</a:t>
            </a:r>
            <a:r>
              <a:rPr sz="1500" spc="-1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DFD5DE"/>
                </a:solidFill>
                <a:latin typeface="Calibri"/>
                <a:cs typeface="Calibri"/>
              </a:rPr>
              <a:t>create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distinctive</a:t>
            </a:r>
            <a:r>
              <a:rPr sz="1500" spc="-5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fingerprints</a:t>
            </a:r>
            <a:r>
              <a:rPr sz="1500" spc="-3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that</a:t>
            </a:r>
            <a:r>
              <a:rPr sz="1500" spc="-5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remain</a:t>
            </a:r>
            <a:r>
              <a:rPr sz="1500" spc="-1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invisible</a:t>
            </a:r>
            <a:r>
              <a:rPr sz="1500" spc="-1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to</a:t>
            </a:r>
            <a:r>
              <a:rPr sz="1500" spc="-3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the</a:t>
            </a:r>
            <a:r>
              <a:rPr sz="1500" spc="-2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human</a:t>
            </a:r>
            <a:r>
              <a:rPr sz="1500" spc="-4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eye</a:t>
            </a:r>
            <a:r>
              <a:rPr sz="1500" spc="-1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but</a:t>
            </a:r>
            <a:r>
              <a:rPr sz="1500" spc="-3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persist</a:t>
            </a:r>
            <a:r>
              <a:rPr sz="1500" spc="-1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DFD5DE"/>
                </a:solidFill>
                <a:latin typeface="Calibri"/>
                <a:cs typeface="Calibri"/>
              </a:rPr>
              <a:t>consistently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across</a:t>
            </a:r>
            <a:r>
              <a:rPr sz="1500" spc="-2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all</a:t>
            </a:r>
            <a:r>
              <a:rPr sz="1500" spc="-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documents</a:t>
            </a:r>
            <a:r>
              <a:rPr sz="1500" spc="-3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scanned</a:t>
            </a:r>
            <a:r>
              <a:rPr sz="1500" spc="-2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by</a:t>
            </a:r>
            <a:r>
              <a:rPr sz="1500" spc="-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the</a:t>
            </a:r>
            <a:r>
              <a:rPr sz="1500" spc="-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same</a:t>
            </a:r>
            <a:r>
              <a:rPr sz="1500" spc="-10" dirty="0">
                <a:solidFill>
                  <a:srgbClr val="DFD5DE"/>
                </a:solidFill>
                <a:latin typeface="Calibri"/>
                <a:cs typeface="Calibri"/>
              </a:rPr>
              <a:t> device.</a:t>
            </a: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550">
              <a:latin typeface="Calibri"/>
              <a:cs typeface="Calibri"/>
            </a:endParaRPr>
          </a:p>
          <a:p>
            <a:pPr marL="12700" marR="5080">
              <a:lnSpc>
                <a:spcPct val="139100"/>
              </a:lnSpc>
            </a:pP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Identifying</a:t>
            </a:r>
            <a:r>
              <a:rPr sz="1500" spc="-1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these</a:t>
            </a:r>
            <a:r>
              <a:rPr sz="1500" spc="-1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hidden</a:t>
            </a:r>
            <a:r>
              <a:rPr sz="1500" spc="-2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patterns</a:t>
            </a:r>
            <a:r>
              <a:rPr sz="1500" spc="-4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has</a:t>
            </a:r>
            <a:r>
              <a:rPr sz="1500" spc="-3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become</a:t>
            </a:r>
            <a:r>
              <a:rPr sz="1500" spc="-1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increasingly</a:t>
            </a:r>
            <a:r>
              <a:rPr sz="1500" spc="-4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crucial</a:t>
            </a:r>
            <a:r>
              <a:rPr sz="1500" spc="-1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for</a:t>
            </a:r>
            <a:r>
              <a:rPr sz="1500" spc="-1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digital</a:t>
            </a:r>
            <a:r>
              <a:rPr sz="1500" spc="-2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DFD5DE"/>
                </a:solidFill>
                <a:latin typeface="Calibri"/>
                <a:cs typeface="Calibri"/>
              </a:rPr>
              <a:t>forensics,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document</a:t>
            </a:r>
            <a:r>
              <a:rPr sz="1500" spc="-3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verification,</a:t>
            </a:r>
            <a:r>
              <a:rPr sz="1500" spc="-4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authenticity</a:t>
            </a:r>
            <a:r>
              <a:rPr sz="1500" spc="-5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analysis,</a:t>
            </a:r>
            <a:r>
              <a:rPr sz="1500" spc="-7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and</a:t>
            </a:r>
            <a:r>
              <a:rPr sz="1500" spc="-2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legal</a:t>
            </a:r>
            <a:r>
              <a:rPr sz="1500" spc="-3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evidence</a:t>
            </a:r>
            <a:r>
              <a:rPr sz="1500" spc="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validation</a:t>
            </a:r>
            <a:r>
              <a:rPr sz="1500" spc="-3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in</a:t>
            </a:r>
            <a:r>
              <a:rPr sz="1500" spc="-10" dirty="0">
                <a:solidFill>
                  <a:srgbClr val="DFD5DE"/>
                </a:solidFill>
                <a:latin typeface="Calibri"/>
                <a:cs typeface="Calibri"/>
              </a:rPr>
              <a:t> modern investigative</a:t>
            </a:r>
            <a:r>
              <a:rPr sz="1500" spc="-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DFD5DE"/>
                </a:solidFill>
                <a:latin typeface="Calibri"/>
                <a:cs typeface="Calibri"/>
              </a:rPr>
              <a:t>workflows.</a:t>
            </a:r>
            <a:endParaRPr sz="15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08264" y="2135123"/>
            <a:ext cx="5330951" cy="53309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1304" y="1215085"/>
            <a:ext cx="3834765" cy="704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spc="-30" dirty="0">
                <a:latin typeface="Calibri Light"/>
                <a:cs typeface="Calibri Light"/>
              </a:rPr>
              <a:t>Project</a:t>
            </a:r>
            <a:r>
              <a:rPr b="0" spc="-204" dirty="0">
                <a:latin typeface="Calibri Light"/>
                <a:cs typeface="Calibri Light"/>
              </a:rPr>
              <a:t> </a:t>
            </a:r>
            <a:r>
              <a:rPr b="0" spc="-25" dirty="0">
                <a:latin typeface="Calibri Light"/>
                <a:cs typeface="Calibri Light"/>
              </a:rPr>
              <a:t>Objective</a:t>
            </a:r>
          </a:p>
        </p:txBody>
      </p:sp>
      <p:sp>
        <p:nvSpPr>
          <p:cNvPr id="3" name="object 3"/>
          <p:cNvSpPr/>
          <p:nvPr/>
        </p:nvSpPr>
        <p:spPr>
          <a:xfrm>
            <a:off x="794004" y="2421635"/>
            <a:ext cx="6408420" cy="1670685"/>
          </a:xfrm>
          <a:custGeom>
            <a:avLst/>
            <a:gdLst/>
            <a:ahLst/>
            <a:cxnLst/>
            <a:rect l="l" t="t" r="r" b="b"/>
            <a:pathLst>
              <a:path w="6408420" h="1670685">
                <a:moveTo>
                  <a:pt x="6374384" y="0"/>
                </a:moveTo>
                <a:lnTo>
                  <a:pt x="34036" y="0"/>
                </a:lnTo>
                <a:lnTo>
                  <a:pt x="20788" y="2674"/>
                </a:lnTo>
                <a:lnTo>
                  <a:pt x="9969" y="9969"/>
                </a:lnTo>
                <a:lnTo>
                  <a:pt x="2674" y="20788"/>
                </a:lnTo>
                <a:lnTo>
                  <a:pt x="0" y="34036"/>
                </a:lnTo>
                <a:lnTo>
                  <a:pt x="0" y="1636267"/>
                </a:lnTo>
                <a:lnTo>
                  <a:pt x="2674" y="1649515"/>
                </a:lnTo>
                <a:lnTo>
                  <a:pt x="9969" y="1660334"/>
                </a:lnTo>
                <a:lnTo>
                  <a:pt x="20788" y="1667629"/>
                </a:lnTo>
                <a:lnTo>
                  <a:pt x="34036" y="1670303"/>
                </a:lnTo>
                <a:lnTo>
                  <a:pt x="6374384" y="1670303"/>
                </a:lnTo>
                <a:lnTo>
                  <a:pt x="6387631" y="1667629"/>
                </a:lnTo>
                <a:lnTo>
                  <a:pt x="6398450" y="1660334"/>
                </a:lnTo>
                <a:lnTo>
                  <a:pt x="6405745" y="1649515"/>
                </a:lnTo>
                <a:lnTo>
                  <a:pt x="6408420" y="1636267"/>
                </a:lnTo>
                <a:lnTo>
                  <a:pt x="6408420" y="34036"/>
                </a:lnTo>
                <a:lnTo>
                  <a:pt x="6405745" y="20788"/>
                </a:lnTo>
                <a:lnTo>
                  <a:pt x="6398450" y="9969"/>
                </a:lnTo>
                <a:lnTo>
                  <a:pt x="6387631" y="2674"/>
                </a:lnTo>
                <a:lnTo>
                  <a:pt x="6374384" y="0"/>
                </a:lnTo>
                <a:close/>
              </a:path>
            </a:pathLst>
          </a:custGeom>
          <a:solidFill>
            <a:srgbClr val="2525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08075" y="2624708"/>
            <a:ext cx="1815464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DFD5DE"/>
                </a:solidFill>
                <a:latin typeface="Calibri"/>
                <a:cs typeface="Calibri"/>
              </a:rPr>
              <a:t>Imag</a:t>
            </a:r>
            <a:r>
              <a:rPr sz="2200" spc="-11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DFD5DE"/>
                </a:solidFill>
                <a:latin typeface="Calibri"/>
                <a:cs typeface="Calibri"/>
              </a:rPr>
              <a:t>e</a:t>
            </a:r>
            <a:r>
              <a:rPr sz="2200" spc="17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DFD5DE"/>
                </a:solidFill>
                <a:latin typeface="Calibri"/>
                <a:cs typeface="Calibri"/>
              </a:rPr>
              <a:t>Analysis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08075" y="3079355"/>
            <a:ext cx="5607685" cy="76263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750" dirty="0">
                <a:solidFill>
                  <a:srgbClr val="DFD5DE"/>
                </a:solidFill>
                <a:latin typeface="Calibri"/>
                <a:cs typeface="Calibri"/>
              </a:rPr>
              <a:t>Analyze</a:t>
            </a:r>
            <a:r>
              <a:rPr sz="1750" spc="-5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DFD5DE"/>
                </a:solidFill>
                <a:latin typeface="Calibri"/>
                <a:cs typeface="Calibri"/>
              </a:rPr>
              <a:t>scanned</a:t>
            </a:r>
            <a:r>
              <a:rPr sz="1750" spc="-2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DFD5DE"/>
                </a:solidFill>
                <a:latin typeface="Calibri"/>
                <a:cs typeface="Calibri"/>
              </a:rPr>
              <a:t>document</a:t>
            </a:r>
            <a:r>
              <a:rPr sz="1750" spc="-4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DFD5DE"/>
                </a:solidFill>
                <a:latin typeface="Calibri"/>
                <a:cs typeface="Calibri"/>
              </a:rPr>
              <a:t>images</a:t>
            </a:r>
            <a:r>
              <a:rPr sz="1750" spc="-4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DFD5DE"/>
                </a:solidFill>
                <a:latin typeface="Calibri"/>
                <a:cs typeface="Calibri"/>
              </a:rPr>
              <a:t>to</a:t>
            </a:r>
            <a:r>
              <a:rPr sz="1750" spc="-3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DFD5DE"/>
                </a:solidFill>
                <a:latin typeface="Calibri"/>
                <a:cs typeface="Calibri"/>
              </a:rPr>
              <a:t>extract</a:t>
            </a:r>
            <a:r>
              <a:rPr sz="1750" spc="-2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DFD5DE"/>
                </a:solidFill>
                <a:latin typeface="Calibri"/>
                <a:cs typeface="Calibri"/>
              </a:rPr>
              <a:t>scanner-</a:t>
            </a:r>
            <a:r>
              <a:rPr sz="1750" spc="-10" dirty="0">
                <a:solidFill>
                  <a:srgbClr val="DFD5DE"/>
                </a:solidFill>
                <a:latin typeface="Calibri"/>
                <a:cs typeface="Calibri"/>
              </a:rPr>
              <a:t>specific</a:t>
            </a:r>
            <a:endParaRPr sz="1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1750" spc="-10" dirty="0">
                <a:solidFill>
                  <a:srgbClr val="DFD5DE"/>
                </a:solidFill>
                <a:latin typeface="Calibri"/>
                <a:cs typeface="Calibri"/>
              </a:rPr>
              <a:t>characteristics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427976" y="2421635"/>
            <a:ext cx="6408420" cy="1670685"/>
          </a:xfrm>
          <a:custGeom>
            <a:avLst/>
            <a:gdLst/>
            <a:ahLst/>
            <a:cxnLst/>
            <a:rect l="l" t="t" r="r" b="b"/>
            <a:pathLst>
              <a:path w="6408419" h="1670685">
                <a:moveTo>
                  <a:pt x="6374383" y="0"/>
                </a:moveTo>
                <a:lnTo>
                  <a:pt x="34035" y="0"/>
                </a:lnTo>
                <a:lnTo>
                  <a:pt x="20788" y="2674"/>
                </a:lnTo>
                <a:lnTo>
                  <a:pt x="9969" y="9969"/>
                </a:lnTo>
                <a:lnTo>
                  <a:pt x="2674" y="20788"/>
                </a:lnTo>
                <a:lnTo>
                  <a:pt x="0" y="34036"/>
                </a:lnTo>
                <a:lnTo>
                  <a:pt x="0" y="1636267"/>
                </a:lnTo>
                <a:lnTo>
                  <a:pt x="2674" y="1649515"/>
                </a:lnTo>
                <a:lnTo>
                  <a:pt x="9969" y="1660334"/>
                </a:lnTo>
                <a:lnTo>
                  <a:pt x="20788" y="1667629"/>
                </a:lnTo>
                <a:lnTo>
                  <a:pt x="34035" y="1670303"/>
                </a:lnTo>
                <a:lnTo>
                  <a:pt x="6374383" y="1670303"/>
                </a:lnTo>
                <a:lnTo>
                  <a:pt x="6387631" y="1667629"/>
                </a:lnTo>
                <a:lnTo>
                  <a:pt x="6398450" y="1660334"/>
                </a:lnTo>
                <a:lnTo>
                  <a:pt x="6405745" y="1649515"/>
                </a:lnTo>
                <a:lnTo>
                  <a:pt x="6408420" y="1636267"/>
                </a:lnTo>
                <a:lnTo>
                  <a:pt x="6408420" y="34036"/>
                </a:lnTo>
                <a:lnTo>
                  <a:pt x="6405745" y="20788"/>
                </a:lnTo>
                <a:lnTo>
                  <a:pt x="6398450" y="9969"/>
                </a:lnTo>
                <a:lnTo>
                  <a:pt x="6387631" y="2674"/>
                </a:lnTo>
                <a:lnTo>
                  <a:pt x="6374383" y="0"/>
                </a:lnTo>
                <a:close/>
              </a:path>
            </a:pathLst>
          </a:custGeom>
          <a:solidFill>
            <a:srgbClr val="2525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643621" y="2624708"/>
            <a:ext cx="193738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DFD5DE"/>
                </a:solidFill>
                <a:latin typeface="Calibri"/>
                <a:cs typeface="Calibri"/>
              </a:rPr>
              <a:t>Pattern</a:t>
            </a:r>
            <a:r>
              <a:rPr sz="2200" spc="114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DFD5DE"/>
                </a:solidFill>
                <a:latin typeface="Calibri"/>
                <a:cs typeface="Calibri"/>
              </a:rPr>
              <a:t>Learning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43621" y="3079355"/>
            <a:ext cx="5457825" cy="76263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750" dirty="0">
                <a:solidFill>
                  <a:srgbClr val="DFD5DE"/>
                </a:solidFill>
                <a:latin typeface="Calibri"/>
                <a:cs typeface="Calibri"/>
              </a:rPr>
              <a:t>Learn</a:t>
            </a:r>
            <a:r>
              <a:rPr sz="1750" spc="-2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DFD5DE"/>
                </a:solidFill>
                <a:latin typeface="Calibri"/>
                <a:cs typeface="Calibri"/>
              </a:rPr>
              <a:t>unique</a:t>
            </a:r>
            <a:r>
              <a:rPr sz="1750" spc="-1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DFD5DE"/>
                </a:solidFill>
                <a:latin typeface="Calibri"/>
                <a:cs typeface="Calibri"/>
              </a:rPr>
              <a:t>scanner</a:t>
            </a:r>
            <a:r>
              <a:rPr sz="1750" spc="-2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DFD5DE"/>
                </a:solidFill>
                <a:latin typeface="Calibri"/>
                <a:cs typeface="Calibri"/>
              </a:rPr>
              <a:t>noise</a:t>
            </a:r>
            <a:r>
              <a:rPr sz="1750" spc="-2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DFD5DE"/>
                </a:solidFill>
                <a:latin typeface="Calibri"/>
                <a:cs typeface="Calibri"/>
              </a:rPr>
              <a:t>patterns</a:t>
            </a:r>
            <a:r>
              <a:rPr sz="1750" spc="-1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DFD5DE"/>
                </a:solidFill>
                <a:latin typeface="Calibri"/>
                <a:cs typeface="Calibri"/>
              </a:rPr>
              <a:t>using</a:t>
            </a:r>
            <a:r>
              <a:rPr sz="1750" spc="-1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DFD5DE"/>
                </a:solidFill>
                <a:latin typeface="Calibri"/>
                <a:cs typeface="Calibri"/>
              </a:rPr>
              <a:t>machine</a:t>
            </a:r>
            <a:r>
              <a:rPr sz="1750" spc="-3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DFD5DE"/>
                </a:solidFill>
                <a:latin typeface="Calibri"/>
                <a:cs typeface="Calibri"/>
              </a:rPr>
              <a:t>learning</a:t>
            </a:r>
            <a:endParaRPr sz="1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1750" spc="-10" dirty="0">
                <a:solidFill>
                  <a:srgbClr val="DFD5DE"/>
                </a:solidFill>
                <a:latin typeface="Calibri"/>
                <a:cs typeface="Calibri"/>
              </a:rPr>
              <a:t>algorithms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94004" y="4319015"/>
            <a:ext cx="6408420" cy="1670685"/>
          </a:xfrm>
          <a:custGeom>
            <a:avLst/>
            <a:gdLst/>
            <a:ahLst/>
            <a:cxnLst/>
            <a:rect l="l" t="t" r="r" b="b"/>
            <a:pathLst>
              <a:path w="6408420" h="1670685">
                <a:moveTo>
                  <a:pt x="6374384" y="0"/>
                </a:moveTo>
                <a:lnTo>
                  <a:pt x="34036" y="0"/>
                </a:lnTo>
                <a:lnTo>
                  <a:pt x="20788" y="2674"/>
                </a:lnTo>
                <a:lnTo>
                  <a:pt x="9969" y="9969"/>
                </a:lnTo>
                <a:lnTo>
                  <a:pt x="2674" y="20788"/>
                </a:lnTo>
                <a:lnTo>
                  <a:pt x="0" y="34036"/>
                </a:lnTo>
                <a:lnTo>
                  <a:pt x="0" y="1636268"/>
                </a:lnTo>
                <a:lnTo>
                  <a:pt x="2674" y="1649515"/>
                </a:lnTo>
                <a:lnTo>
                  <a:pt x="9969" y="1660334"/>
                </a:lnTo>
                <a:lnTo>
                  <a:pt x="20788" y="1667629"/>
                </a:lnTo>
                <a:lnTo>
                  <a:pt x="34036" y="1670304"/>
                </a:lnTo>
                <a:lnTo>
                  <a:pt x="6374384" y="1670304"/>
                </a:lnTo>
                <a:lnTo>
                  <a:pt x="6387631" y="1667629"/>
                </a:lnTo>
                <a:lnTo>
                  <a:pt x="6398450" y="1660334"/>
                </a:lnTo>
                <a:lnTo>
                  <a:pt x="6405745" y="1649515"/>
                </a:lnTo>
                <a:lnTo>
                  <a:pt x="6408420" y="1636268"/>
                </a:lnTo>
                <a:lnTo>
                  <a:pt x="6408420" y="34036"/>
                </a:lnTo>
                <a:lnTo>
                  <a:pt x="6405745" y="20788"/>
                </a:lnTo>
                <a:lnTo>
                  <a:pt x="6398450" y="9969"/>
                </a:lnTo>
                <a:lnTo>
                  <a:pt x="6387631" y="2674"/>
                </a:lnTo>
                <a:lnTo>
                  <a:pt x="6374384" y="0"/>
                </a:lnTo>
                <a:close/>
              </a:path>
            </a:pathLst>
          </a:custGeom>
          <a:solidFill>
            <a:srgbClr val="2525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008075" y="4521835"/>
            <a:ext cx="215138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80" dirty="0">
                <a:solidFill>
                  <a:srgbClr val="DFD5DE"/>
                </a:solidFill>
                <a:latin typeface="Calibri"/>
                <a:cs typeface="Calibri"/>
              </a:rPr>
              <a:t>Source</a:t>
            </a:r>
            <a:r>
              <a:rPr sz="2200" spc="8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DFD5DE"/>
                </a:solidFill>
                <a:latin typeface="Calibri"/>
                <a:cs typeface="Calibri"/>
              </a:rPr>
              <a:t>Prediction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08075" y="5077714"/>
            <a:ext cx="554482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10" dirty="0">
                <a:solidFill>
                  <a:srgbClr val="DFD5DE"/>
                </a:solidFill>
                <a:latin typeface="Calibri"/>
                <a:cs typeface="Calibri"/>
              </a:rPr>
              <a:t>Accurately</a:t>
            </a:r>
            <a:r>
              <a:rPr sz="1750" spc="-4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DFD5DE"/>
                </a:solidFill>
                <a:latin typeface="Calibri"/>
                <a:cs typeface="Calibri"/>
              </a:rPr>
              <a:t>predict</a:t>
            </a:r>
            <a:r>
              <a:rPr sz="1750" spc="-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DFD5DE"/>
                </a:solidFill>
                <a:latin typeface="Calibri"/>
                <a:cs typeface="Calibri"/>
              </a:rPr>
              <a:t>the</a:t>
            </a:r>
            <a:r>
              <a:rPr sz="1750" spc="-1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DFD5DE"/>
                </a:solidFill>
                <a:latin typeface="Calibri"/>
                <a:cs typeface="Calibri"/>
              </a:rPr>
              <a:t>scanner</a:t>
            </a:r>
            <a:r>
              <a:rPr sz="1750" spc="-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DFD5DE"/>
                </a:solidFill>
                <a:latin typeface="Calibri"/>
                <a:cs typeface="Calibri"/>
              </a:rPr>
              <a:t>source</a:t>
            </a:r>
            <a:r>
              <a:rPr sz="1750" spc="-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DFD5DE"/>
                </a:solidFill>
                <a:latin typeface="Calibri"/>
                <a:cs typeface="Calibri"/>
              </a:rPr>
              <a:t>with</a:t>
            </a:r>
            <a:r>
              <a:rPr sz="1750" spc="-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DFD5DE"/>
                </a:solidFill>
                <a:latin typeface="Calibri"/>
                <a:cs typeface="Calibri"/>
              </a:rPr>
              <a:t>confidence</a:t>
            </a:r>
            <a:r>
              <a:rPr sz="1750" spc="-2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DFD5DE"/>
                </a:solidFill>
                <a:latin typeface="Calibri"/>
                <a:cs typeface="Calibri"/>
              </a:rPr>
              <a:t>scores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427976" y="4319015"/>
            <a:ext cx="6408420" cy="1670685"/>
          </a:xfrm>
          <a:custGeom>
            <a:avLst/>
            <a:gdLst/>
            <a:ahLst/>
            <a:cxnLst/>
            <a:rect l="l" t="t" r="r" b="b"/>
            <a:pathLst>
              <a:path w="6408419" h="1670685">
                <a:moveTo>
                  <a:pt x="6374383" y="0"/>
                </a:moveTo>
                <a:lnTo>
                  <a:pt x="34035" y="0"/>
                </a:lnTo>
                <a:lnTo>
                  <a:pt x="20788" y="2674"/>
                </a:lnTo>
                <a:lnTo>
                  <a:pt x="9969" y="9969"/>
                </a:lnTo>
                <a:lnTo>
                  <a:pt x="2674" y="20788"/>
                </a:lnTo>
                <a:lnTo>
                  <a:pt x="0" y="34036"/>
                </a:lnTo>
                <a:lnTo>
                  <a:pt x="0" y="1636268"/>
                </a:lnTo>
                <a:lnTo>
                  <a:pt x="2674" y="1649515"/>
                </a:lnTo>
                <a:lnTo>
                  <a:pt x="9969" y="1660334"/>
                </a:lnTo>
                <a:lnTo>
                  <a:pt x="20788" y="1667629"/>
                </a:lnTo>
                <a:lnTo>
                  <a:pt x="34035" y="1670304"/>
                </a:lnTo>
                <a:lnTo>
                  <a:pt x="6374383" y="1670304"/>
                </a:lnTo>
                <a:lnTo>
                  <a:pt x="6387631" y="1667629"/>
                </a:lnTo>
                <a:lnTo>
                  <a:pt x="6398450" y="1660334"/>
                </a:lnTo>
                <a:lnTo>
                  <a:pt x="6405745" y="1649515"/>
                </a:lnTo>
                <a:lnTo>
                  <a:pt x="6408420" y="1636268"/>
                </a:lnTo>
                <a:lnTo>
                  <a:pt x="6408420" y="34036"/>
                </a:lnTo>
                <a:lnTo>
                  <a:pt x="6405745" y="20788"/>
                </a:lnTo>
                <a:lnTo>
                  <a:pt x="6398450" y="9969"/>
                </a:lnTo>
                <a:lnTo>
                  <a:pt x="6387631" y="2674"/>
                </a:lnTo>
                <a:lnTo>
                  <a:pt x="6374383" y="0"/>
                </a:lnTo>
                <a:close/>
              </a:path>
            </a:pathLst>
          </a:custGeom>
          <a:solidFill>
            <a:srgbClr val="2525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643621" y="4521835"/>
            <a:ext cx="169418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DFD5DE"/>
                </a:solidFill>
                <a:latin typeface="Calibri"/>
                <a:cs typeface="Calibri"/>
              </a:rPr>
              <a:t>Web</a:t>
            </a:r>
            <a:r>
              <a:rPr sz="2200" spc="36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DFD5DE"/>
                </a:solidFill>
                <a:latin typeface="Calibri"/>
                <a:cs typeface="Calibri"/>
              </a:rPr>
              <a:t>Interface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643621" y="5077714"/>
            <a:ext cx="526669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dirty="0">
                <a:solidFill>
                  <a:srgbClr val="DFD5DE"/>
                </a:solidFill>
                <a:latin typeface="Calibri"/>
                <a:cs typeface="Calibri"/>
              </a:rPr>
              <a:t>Display</a:t>
            </a:r>
            <a:r>
              <a:rPr sz="1750" spc="5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DFD5DE"/>
                </a:solidFill>
                <a:latin typeface="Calibri"/>
                <a:cs typeface="Calibri"/>
              </a:rPr>
              <a:t>results</a:t>
            </a:r>
            <a:r>
              <a:rPr sz="1750" spc="1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DFD5DE"/>
                </a:solidFill>
                <a:latin typeface="Calibri"/>
                <a:cs typeface="Calibri"/>
              </a:rPr>
              <a:t>through</a:t>
            </a:r>
            <a:r>
              <a:rPr sz="1750" spc="1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DFD5DE"/>
                </a:solidFill>
                <a:latin typeface="Calibri"/>
                <a:cs typeface="Calibri"/>
              </a:rPr>
              <a:t>a</a:t>
            </a:r>
            <a:r>
              <a:rPr sz="1750" spc="1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DFD5DE"/>
                </a:solidFill>
                <a:latin typeface="Calibri"/>
                <a:cs typeface="Calibri"/>
              </a:rPr>
              <a:t>simple,</a:t>
            </a:r>
            <a:r>
              <a:rPr sz="1750" spc="-4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DFD5DE"/>
                </a:solidFill>
                <a:latin typeface="Calibri"/>
                <a:cs typeface="Calibri"/>
              </a:rPr>
              <a:t>intuitive</a:t>
            </a:r>
            <a:r>
              <a:rPr sz="1750" spc="-1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DFD5DE"/>
                </a:solidFill>
                <a:latin typeface="Calibri"/>
                <a:cs typeface="Calibri"/>
              </a:rPr>
              <a:t>web</a:t>
            </a:r>
            <a:r>
              <a:rPr sz="1750" spc="2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DFD5DE"/>
                </a:solidFill>
                <a:latin typeface="Calibri"/>
                <a:cs typeface="Calibri"/>
              </a:rPr>
              <a:t>application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81304" y="6183681"/>
            <a:ext cx="12403455" cy="763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8400"/>
              </a:lnSpc>
              <a:spcBef>
                <a:spcPts val="100"/>
              </a:spcBef>
            </a:pPr>
            <a:r>
              <a:rPr sz="1750" dirty="0">
                <a:solidFill>
                  <a:srgbClr val="DFD5DE"/>
                </a:solidFill>
                <a:latin typeface="Calibri"/>
                <a:cs typeface="Calibri"/>
              </a:rPr>
              <a:t>The</a:t>
            </a:r>
            <a:r>
              <a:rPr sz="1750" spc="-3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DFD5DE"/>
                </a:solidFill>
                <a:latin typeface="Calibri"/>
                <a:cs typeface="Calibri"/>
              </a:rPr>
              <a:t>system</a:t>
            </a:r>
            <a:r>
              <a:rPr sz="1750" spc="-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DFD5DE"/>
                </a:solidFill>
                <a:latin typeface="Calibri"/>
                <a:cs typeface="Calibri"/>
              </a:rPr>
              <a:t>combines</a:t>
            </a:r>
            <a:r>
              <a:rPr sz="1750" spc="-3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DFD5DE"/>
                </a:solidFill>
                <a:latin typeface="Calibri"/>
                <a:cs typeface="Calibri"/>
              </a:rPr>
              <a:t>advanced</a:t>
            </a:r>
            <a:r>
              <a:rPr sz="1750" spc="-2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DFD5DE"/>
                </a:solidFill>
                <a:latin typeface="Calibri"/>
                <a:cs typeface="Calibri"/>
              </a:rPr>
              <a:t>image</a:t>
            </a:r>
            <a:r>
              <a:rPr sz="1750" spc="-3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DFD5DE"/>
                </a:solidFill>
                <a:latin typeface="Calibri"/>
                <a:cs typeface="Calibri"/>
              </a:rPr>
              <a:t>processing</a:t>
            </a:r>
            <a:r>
              <a:rPr sz="1750" spc="-3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DFD5DE"/>
                </a:solidFill>
                <a:latin typeface="Calibri"/>
                <a:cs typeface="Calibri"/>
              </a:rPr>
              <a:t>techniques</a:t>
            </a:r>
            <a:r>
              <a:rPr sz="1750" spc="-2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DFD5DE"/>
                </a:solidFill>
                <a:latin typeface="Calibri"/>
                <a:cs typeface="Calibri"/>
              </a:rPr>
              <a:t>with</a:t>
            </a:r>
            <a:r>
              <a:rPr sz="1750" spc="-2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DFD5DE"/>
                </a:solidFill>
                <a:latin typeface="Calibri"/>
                <a:cs typeface="Calibri"/>
              </a:rPr>
              <a:t>machine</a:t>
            </a:r>
            <a:r>
              <a:rPr sz="1750" spc="-3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DFD5DE"/>
                </a:solidFill>
                <a:latin typeface="Calibri"/>
                <a:cs typeface="Calibri"/>
              </a:rPr>
              <a:t>learning</a:t>
            </a:r>
            <a:r>
              <a:rPr sz="1750" spc="-4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DFD5DE"/>
                </a:solidFill>
                <a:latin typeface="Calibri"/>
                <a:cs typeface="Calibri"/>
              </a:rPr>
              <a:t>to</a:t>
            </a:r>
            <a:r>
              <a:rPr sz="1750" spc="-2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DFD5DE"/>
                </a:solidFill>
                <a:latin typeface="Calibri"/>
                <a:cs typeface="Calibri"/>
              </a:rPr>
              <a:t>create</a:t>
            </a:r>
            <a:r>
              <a:rPr sz="1750" spc="-2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DFD5DE"/>
                </a:solidFill>
                <a:latin typeface="Calibri"/>
                <a:cs typeface="Calibri"/>
              </a:rPr>
              <a:t>an</a:t>
            </a:r>
            <a:r>
              <a:rPr sz="1750" spc="-1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DFD5DE"/>
                </a:solidFill>
                <a:latin typeface="Calibri"/>
                <a:cs typeface="Calibri"/>
              </a:rPr>
              <a:t>automated</a:t>
            </a:r>
            <a:r>
              <a:rPr sz="1750" spc="-3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DFD5DE"/>
                </a:solidFill>
                <a:latin typeface="Calibri"/>
                <a:cs typeface="Calibri"/>
              </a:rPr>
              <a:t>scanner</a:t>
            </a:r>
            <a:r>
              <a:rPr sz="1750" spc="-2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DFD5DE"/>
                </a:solidFill>
                <a:latin typeface="Calibri"/>
                <a:cs typeface="Calibri"/>
              </a:rPr>
              <a:t>attribution</a:t>
            </a:r>
            <a:r>
              <a:rPr sz="1750" spc="-3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DFD5DE"/>
                </a:solidFill>
                <a:latin typeface="Calibri"/>
                <a:cs typeface="Calibri"/>
              </a:rPr>
              <a:t>tool</a:t>
            </a:r>
            <a:r>
              <a:rPr sz="1750" spc="-20" dirty="0">
                <a:solidFill>
                  <a:srgbClr val="DFD5DE"/>
                </a:solidFill>
                <a:latin typeface="Calibri"/>
                <a:cs typeface="Calibri"/>
              </a:rPr>
              <a:t> that </a:t>
            </a:r>
            <a:r>
              <a:rPr sz="1750" dirty="0">
                <a:solidFill>
                  <a:srgbClr val="DFD5DE"/>
                </a:solidFill>
                <a:latin typeface="Calibri"/>
                <a:cs typeface="Calibri"/>
              </a:rPr>
              <a:t>operates</a:t>
            </a:r>
            <a:r>
              <a:rPr sz="1750" spc="-2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DFD5DE"/>
                </a:solidFill>
                <a:latin typeface="Calibri"/>
                <a:cs typeface="Calibri"/>
              </a:rPr>
              <a:t>seamlessly</a:t>
            </a:r>
            <a:r>
              <a:rPr sz="1750" spc="-3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DFD5DE"/>
                </a:solidFill>
                <a:latin typeface="Calibri"/>
                <a:cs typeface="Calibri"/>
              </a:rPr>
              <a:t>in</a:t>
            </a:r>
            <a:r>
              <a:rPr sz="1750" spc="-1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DFD5DE"/>
                </a:solidFill>
                <a:latin typeface="Calibri"/>
                <a:cs typeface="Calibri"/>
              </a:rPr>
              <a:t>real-</a:t>
            </a:r>
            <a:r>
              <a:rPr sz="1750" dirty="0">
                <a:solidFill>
                  <a:srgbClr val="DFD5DE"/>
                </a:solidFill>
                <a:latin typeface="Calibri"/>
                <a:cs typeface="Calibri"/>
              </a:rPr>
              <a:t>world</a:t>
            </a:r>
            <a:r>
              <a:rPr sz="1750" spc="-2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DFD5DE"/>
                </a:solidFill>
                <a:latin typeface="Calibri"/>
                <a:cs typeface="Calibri"/>
              </a:rPr>
              <a:t>scenarios.</a:t>
            </a:r>
            <a:endParaRPr sz="17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2787" y="1313434"/>
            <a:ext cx="3705860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b="0" spc="-25" dirty="0">
                <a:latin typeface="Calibri Light"/>
                <a:cs typeface="Calibri Light"/>
              </a:rPr>
              <a:t>Dataset</a:t>
            </a:r>
            <a:r>
              <a:rPr sz="2650" b="0" spc="-110" dirty="0">
                <a:latin typeface="Calibri Light"/>
                <a:cs typeface="Calibri Light"/>
              </a:rPr>
              <a:t> </a:t>
            </a:r>
            <a:r>
              <a:rPr sz="2650" b="0" dirty="0">
                <a:latin typeface="Calibri Light"/>
                <a:cs typeface="Calibri Light"/>
              </a:rPr>
              <a:t>&amp;</a:t>
            </a:r>
            <a:r>
              <a:rPr sz="2650" b="0" spc="-80" dirty="0">
                <a:latin typeface="Calibri Light"/>
                <a:cs typeface="Calibri Light"/>
              </a:rPr>
              <a:t> </a:t>
            </a:r>
            <a:r>
              <a:rPr sz="2650" b="0" dirty="0">
                <a:latin typeface="Calibri Light"/>
                <a:cs typeface="Calibri Light"/>
              </a:rPr>
              <a:t>Input</a:t>
            </a:r>
            <a:r>
              <a:rPr sz="2650" b="0" spc="-105" dirty="0">
                <a:latin typeface="Calibri Light"/>
                <a:cs typeface="Calibri Light"/>
              </a:rPr>
              <a:t> </a:t>
            </a:r>
            <a:r>
              <a:rPr sz="2650" b="0" spc="-10" dirty="0">
                <a:latin typeface="Calibri Light"/>
                <a:cs typeface="Calibri Light"/>
              </a:rPr>
              <a:t>Description</a:t>
            </a:r>
            <a:endParaRPr sz="265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75487" y="2165604"/>
            <a:ext cx="8193405" cy="1016635"/>
            <a:chOff x="475487" y="2165604"/>
            <a:chExt cx="8193405" cy="1016635"/>
          </a:xfrm>
        </p:grpSpPr>
        <p:sp>
          <p:nvSpPr>
            <p:cNvPr id="4" name="object 4"/>
            <p:cNvSpPr/>
            <p:nvPr/>
          </p:nvSpPr>
          <p:spPr>
            <a:xfrm>
              <a:off x="475487" y="2180844"/>
              <a:ext cx="8193405" cy="1001394"/>
            </a:xfrm>
            <a:custGeom>
              <a:avLst/>
              <a:gdLst/>
              <a:ahLst/>
              <a:cxnLst/>
              <a:rect l="l" t="t" r="r" b="b"/>
              <a:pathLst>
                <a:path w="8193405" h="1001394">
                  <a:moveTo>
                    <a:pt x="8119871" y="0"/>
                  </a:moveTo>
                  <a:lnTo>
                    <a:pt x="73126" y="0"/>
                  </a:lnTo>
                  <a:lnTo>
                    <a:pt x="44662" y="5750"/>
                  </a:lnTo>
                  <a:lnTo>
                    <a:pt x="21418" y="21431"/>
                  </a:lnTo>
                  <a:lnTo>
                    <a:pt x="5746" y="44684"/>
                  </a:lnTo>
                  <a:lnTo>
                    <a:pt x="0" y="73151"/>
                  </a:lnTo>
                  <a:lnTo>
                    <a:pt x="0" y="928115"/>
                  </a:lnTo>
                  <a:lnTo>
                    <a:pt x="5746" y="956583"/>
                  </a:lnTo>
                  <a:lnTo>
                    <a:pt x="21418" y="979836"/>
                  </a:lnTo>
                  <a:lnTo>
                    <a:pt x="44662" y="995517"/>
                  </a:lnTo>
                  <a:lnTo>
                    <a:pt x="73126" y="1001267"/>
                  </a:lnTo>
                  <a:lnTo>
                    <a:pt x="8119871" y="1001267"/>
                  </a:lnTo>
                  <a:lnTo>
                    <a:pt x="8148339" y="995517"/>
                  </a:lnTo>
                  <a:lnTo>
                    <a:pt x="8171592" y="979836"/>
                  </a:lnTo>
                  <a:lnTo>
                    <a:pt x="8187273" y="956583"/>
                  </a:lnTo>
                  <a:lnTo>
                    <a:pt x="8193023" y="928115"/>
                  </a:lnTo>
                  <a:lnTo>
                    <a:pt x="8193023" y="73151"/>
                  </a:lnTo>
                  <a:lnTo>
                    <a:pt x="8187273" y="44684"/>
                  </a:lnTo>
                  <a:lnTo>
                    <a:pt x="8171592" y="21431"/>
                  </a:lnTo>
                  <a:lnTo>
                    <a:pt x="8148339" y="5750"/>
                  </a:lnTo>
                  <a:lnTo>
                    <a:pt x="8119871" y="0"/>
                  </a:lnTo>
                  <a:close/>
                </a:path>
              </a:pathLst>
            </a:custGeom>
            <a:solidFill>
              <a:srgbClr val="0707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5487" y="2165604"/>
              <a:ext cx="8193023" cy="6096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4478273" y="2107819"/>
            <a:ext cx="106045" cy="215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spc="-5" dirty="0">
                <a:latin typeface="Calibri"/>
                <a:cs typeface="Calibri"/>
              </a:rPr>
              <a:t>1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3968" y="2504643"/>
            <a:ext cx="4106545" cy="5111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DFD5DE"/>
                </a:solidFill>
                <a:latin typeface="Calibri"/>
                <a:cs typeface="Calibri"/>
              </a:rPr>
              <a:t>Input</a:t>
            </a:r>
            <a:r>
              <a:rPr sz="1300" spc="23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DFD5DE"/>
                </a:solidFill>
                <a:latin typeface="Calibri"/>
                <a:cs typeface="Calibri"/>
              </a:rPr>
              <a:t>Form</a:t>
            </a:r>
            <a:r>
              <a:rPr sz="1300" spc="-10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DFD5DE"/>
                </a:solidFill>
                <a:latin typeface="Calibri"/>
                <a:cs typeface="Calibri"/>
              </a:rPr>
              <a:t>ats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sz="1050" dirty="0">
                <a:solidFill>
                  <a:srgbClr val="DFD5DE"/>
                </a:solidFill>
                <a:latin typeface="Calibri"/>
                <a:cs typeface="Calibri"/>
              </a:rPr>
              <a:t>Grayscale</a:t>
            </a:r>
            <a:r>
              <a:rPr sz="1050" spc="4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DFD5DE"/>
                </a:solidFill>
                <a:latin typeface="Calibri"/>
                <a:cs typeface="Calibri"/>
              </a:rPr>
              <a:t>and</a:t>
            </a:r>
            <a:r>
              <a:rPr sz="1050" spc="-1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DFD5DE"/>
                </a:solidFill>
                <a:latin typeface="Calibri"/>
                <a:cs typeface="Calibri"/>
              </a:rPr>
              <a:t>color document</a:t>
            </a:r>
            <a:r>
              <a:rPr sz="1050" spc="-1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DFD5DE"/>
                </a:solidFill>
                <a:latin typeface="Calibri"/>
                <a:cs typeface="Calibri"/>
              </a:rPr>
              <a:t>scans</a:t>
            </a:r>
            <a:r>
              <a:rPr sz="1050" spc="1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DFD5DE"/>
                </a:solidFill>
                <a:latin typeface="Calibri"/>
                <a:cs typeface="Calibri"/>
              </a:rPr>
              <a:t>in</a:t>
            </a:r>
            <a:r>
              <a:rPr sz="1050" spc="-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DFD5DE"/>
                </a:solidFill>
                <a:latin typeface="Calibri"/>
                <a:cs typeface="Calibri"/>
              </a:rPr>
              <a:t>multiple</a:t>
            </a:r>
            <a:r>
              <a:rPr sz="1050" spc="-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DFD5DE"/>
                </a:solidFill>
                <a:latin typeface="Calibri"/>
                <a:cs typeface="Calibri"/>
              </a:rPr>
              <a:t>formats</a:t>
            </a:r>
            <a:r>
              <a:rPr sz="1050" spc="-1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DFD5DE"/>
                </a:solidFill>
                <a:latin typeface="Calibri"/>
                <a:cs typeface="Calibri"/>
              </a:rPr>
              <a:t>(JPEG,</a:t>
            </a:r>
            <a:r>
              <a:rPr sz="1050" spc="3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050" spc="45" dirty="0">
                <a:solidFill>
                  <a:srgbClr val="DFD5DE"/>
                </a:solidFill>
                <a:latin typeface="Calibri"/>
                <a:cs typeface="Calibri"/>
              </a:rPr>
              <a:t>PNG, </a:t>
            </a:r>
            <a:r>
              <a:rPr sz="1050" spc="-10" dirty="0">
                <a:solidFill>
                  <a:srgbClr val="DFD5DE"/>
                </a:solidFill>
                <a:latin typeface="Calibri"/>
                <a:cs typeface="Calibri"/>
              </a:rPr>
              <a:t>TIFF)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75487" y="3506723"/>
            <a:ext cx="8193405" cy="1016635"/>
            <a:chOff x="475487" y="3506723"/>
            <a:chExt cx="8193405" cy="1016635"/>
          </a:xfrm>
        </p:grpSpPr>
        <p:sp>
          <p:nvSpPr>
            <p:cNvPr id="9" name="object 9"/>
            <p:cNvSpPr/>
            <p:nvPr/>
          </p:nvSpPr>
          <p:spPr>
            <a:xfrm>
              <a:off x="475487" y="3521963"/>
              <a:ext cx="8193405" cy="1001394"/>
            </a:xfrm>
            <a:custGeom>
              <a:avLst/>
              <a:gdLst/>
              <a:ahLst/>
              <a:cxnLst/>
              <a:rect l="l" t="t" r="r" b="b"/>
              <a:pathLst>
                <a:path w="8193405" h="1001395">
                  <a:moveTo>
                    <a:pt x="8119871" y="0"/>
                  </a:moveTo>
                  <a:lnTo>
                    <a:pt x="73126" y="0"/>
                  </a:lnTo>
                  <a:lnTo>
                    <a:pt x="44662" y="5750"/>
                  </a:lnTo>
                  <a:lnTo>
                    <a:pt x="21418" y="21431"/>
                  </a:lnTo>
                  <a:lnTo>
                    <a:pt x="5746" y="44684"/>
                  </a:lnTo>
                  <a:lnTo>
                    <a:pt x="0" y="73151"/>
                  </a:lnTo>
                  <a:lnTo>
                    <a:pt x="0" y="928115"/>
                  </a:lnTo>
                  <a:lnTo>
                    <a:pt x="5746" y="956583"/>
                  </a:lnTo>
                  <a:lnTo>
                    <a:pt x="21418" y="979836"/>
                  </a:lnTo>
                  <a:lnTo>
                    <a:pt x="44662" y="995517"/>
                  </a:lnTo>
                  <a:lnTo>
                    <a:pt x="73126" y="1001268"/>
                  </a:lnTo>
                  <a:lnTo>
                    <a:pt x="8119871" y="1001268"/>
                  </a:lnTo>
                  <a:lnTo>
                    <a:pt x="8148339" y="995517"/>
                  </a:lnTo>
                  <a:lnTo>
                    <a:pt x="8171592" y="979836"/>
                  </a:lnTo>
                  <a:lnTo>
                    <a:pt x="8187273" y="956583"/>
                  </a:lnTo>
                  <a:lnTo>
                    <a:pt x="8193023" y="928115"/>
                  </a:lnTo>
                  <a:lnTo>
                    <a:pt x="8193023" y="73151"/>
                  </a:lnTo>
                  <a:lnTo>
                    <a:pt x="8187273" y="44684"/>
                  </a:lnTo>
                  <a:lnTo>
                    <a:pt x="8171592" y="21431"/>
                  </a:lnTo>
                  <a:lnTo>
                    <a:pt x="8148339" y="5750"/>
                  </a:lnTo>
                  <a:lnTo>
                    <a:pt x="8119871" y="0"/>
                  </a:lnTo>
                  <a:close/>
                </a:path>
              </a:pathLst>
            </a:custGeom>
            <a:solidFill>
              <a:srgbClr val="0707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5487" y="3506723"/>
              <a:ext cx="8193023" cy="60960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4478273" y="3449192"/>
            <a:ext cx="106045" cy="215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spc="-5" dirty="0">
                <a:latin typeface="Calibri"/>
                <a:cs typeface="Calibri"/>
              </a:rPr>
              <a:t>2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3968" y="3846322"/>
            <a:ext cx="3989704" cy="5111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DFD5DE"/>
                </a:solidFill>
                <a:latin typeface="Calibri"/>
                <a:cs typeface="Calibri"/>
              </a:rPr>
              <a:t>Resolution</a:t>
            </a:r>
            <a:r>
              <a:rPr sz="1300" spc="45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DFD5DE"/>
                </a:solidFill>
                <a:latin typeface="Calibri"/>
                <a:cs typeface="Calibri"/>
              </a:rPr>
              <a:t>Variety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sz="1050" dirty="0">
                <a:solidFill>
                  <a:srgbClr val="DFD5DE"/>
                </a:solidFill>
                <a:latin typeface="Calibri"/>
                <a:cs typeface="Calibri"/>
              </a:rPr>
              <a:t>Multiple</a:t>
            </a:r>
            <a:r>
              <a:rPr sz="1050" spc="5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DFD5DE"/>
                </a:solidFill>
                <a:latin typeface="Calibri"/>
                <a:cs typeface="Calibri"/>
              </a:rPr>
              <a:t>resolutions</a:t>
            </a:r>
            <a:r>
              <a:rPr sz="1050" dirty="0">
                <a:solidFill>
                  <a:srgbClr val="DFD5DE"/>
                </a:solidFill>
                <a:latin typeface="Calibri"/>
                <a:cs typeface="Calibri"/>
              </a:rPr>
              <a:t> from</a:t>
            </a:r>
            <a:r>
              <a:rPr sz="1050" spc="-1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DFD5DE"/>
                </a:solidFill>
                <a:latin typeface="Calibri"/>
                <a:cs typeface="Calibri"/>
              </a:rPr>
              <a:t>150</a:t>
            </a:r>
            <a:r>
              <a:rPr sz="1050" spc="3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DFD5DE"/>
                </a:solidFill>
                <a:latin typeface="Calibri"/>
                <a:cs typeface="Calibri"/>
              </a:rPr>
              <a:t>DPI</a:t>
            </a:r>
            <a:r>
              <a:rPr sz="1050" spc="10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DFD5DE"/>
                </a:solidFill>
                <a:latin typeface="Calibri"/>
                <a:cs typeface="Calibri"/>
              </a:rPr>
              <a:t>to</a:t>
            </a:r>
            <a:r>
              <a:rPr sz="1050" spc="1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DFD5DE"/>
                </a:solidFill>
                <a:latin typeface="Calibri"/>
                <a:cs typeface="Calibri"/>
              </a:rPr>
              <a:t>600</a:t>
            </a:r>
            <a:r>
              <a:rPr sz="1050" spc="1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DFD5DE"/>
                </a:solidFill>
                <a:latin typeface="Calibri"/>
                <a:cs typeface="Calibri"/>
              </a:rPr>
              <a:t>DPI</a:t>
            </a:r>
            <a:r>
              <a:rPr sz="1050" spc="10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DFD5DE"/>
                </a:solidFill>
                <a:latin typeface="Calibri"/>
                <a:cs typeface="Calibri"/>
              </a:rPr>
              <a:t>reflecting real-world</a:t>
            </a:r>
            <a:r>
              <a:rPr sz="1050" spc="-2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DFD5DE"/>
                </a:solidFill>
                <a:latin typeface="Calibri"/>
                <a:cs typeface="Calibri"/>
              </a:rPr>
              <a:t>usage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75487" y="4847844"/>
            <a:ext cx="8193405" cy="1016635"/>
            <a:chOff x="475487" y="4847844"/>
            <a:chExt cx="8193405" cy="1016635"/>
          </a:xfrm>
        </p:grpSpPr>
        <p:sp>
          <p:nvSpPr>
            <p:cNvPr id="14" name="object 14"/>
            <p:cNvSpPr/>
            <p:nvPr/>
          </p:nvSpPr>
          <p:spPr>
            <a:xfrm>
              <a:off x="475487" y="4863084"/>
              <a:ext cx="8193405" cy="1001394"/>
            </a:xfrm>
            <a:custGeom>
              <a:avLst/>
              <a:gdLst/>
              <a:ahLst/>
              <a:cxnLst/>
              <a:rect l="l" t="t" r="r" b="b"/>
              <a:pathLst>
                <a:path w="8193405" h="1001395">
                  <a:moveTo>
                    <a:pt x="8119871" y="0"/>
                  </a:moveTo>
                  <a:lnTo>
                    <a:pt x="73126" y="0"/>
                  </a:lnTo>
                  <a:lnTo>
                    <a:pt x="44662" y="5750"/>
                  </a:lnTo>
                  <a:lnTo>
                    <a:pt x="21418" y="21431"/>
                  </a:lnTo>
                  <a:lnTo>
                    <a:pt x="5746" y="44684"/>
                  </a:lnTo>
                  <a:lnTo>
                    <a:pt x="0" y="73151"/>
                  </a:lnTo>
                  <a:lnTo>
                    <a:pt x="0" y="928115"/>
                  </a:lnTo>
                  <a:lnTo>
                    <a:pt x="5746" y="956583"/>
                  </a:lnTo>
                  <a:lnTo>
                    <a:pt x="21418" y="979836"/>
                  </a:lnTo>
                  <a:lnTo>
                    <a:pt x="44662" y="995517"/>
                  </a:lnTo>
                  <a:lnTo>
                    <a:pt x="73126" y="1001267"/>
                  </a:lnTo>
                  <a:lnTo>
                    <a:pt x="8119871" y="1001267"/>
                  </a:lnTo>
                  <a:lnTo>
                    <a:pt x="8148339" y="995517"/>
                  </a:lnTo>
                  <a:lnTo>
                    <a:pt x="8171592" y="979836"/>
                  </a:lnTo>
                  <a:lnTo>
                    <a:pt x="8187273" y="956583"/>
                  </a:lnTo>
                  <a:lnTo>
                    <a:pt x="8193023" y="928115"/>
                  </a:lnTo>
                  <a:lnTo>
                    <a:pt x="8193023" y="73151"/>
                  </a:lnTo>
                  <a:lnTo>
                    <a:pt x="8187273" y="44684"/>
                  </a:lnTo>
                  <a:lnTo>
                    <a:pt x="8171592" y="21431"/>
                  </a:lnTo>
                  <a:lnTo>
                    <a:pt x="8148339" y="5750"/>
                  </a:lnTo>
                  <a:lnTo>
                    <a:pt x="8119871" y="0"/>
                  </a:lnTo>
                  <a:close/>
                </a:path>
              </a:pathLst>
            </a:custGeom>
            <a:solidFill>
              <a:srgbClr val="0707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5487" y="4847844"/>
              <a:ext cx="8193023" cy="60960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4478273" y="4790694"/>
            <a:ext cx="106045" cy="215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spc="-5" dirty="0">
                <a:latin typeface="Calibri"/>
                <a:cs typeface="Calibri"/>
              </a:rPr>
              <a:t>3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13968" y="5187822"/>
            <a:ext cx="4077335" cy="5111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DFD5DE"/>
                </a:solidFill>
                <a:latin typeface="Calibri"/>
                <a:cs typeface="Calibri"/>
              </a:rPr>
              <a:t>Focus</a:t>
            </a:r>
            <a:r>
              <a:rPr sz="1300" spc="26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DFD5DE"/>
                </a:solidFill>
                <a:latin typeface="Calibri"/>
                <a:cs typeface="Calibri"/>
              </a:rPr>
              <a:t>Area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sz="1050" dirty="0">
                <a:solidFill>
                  <a:srgbClr val="DFD5DE"/>
                </a:solidFill>
                <a:latin typeface="Calibri"/>
                <a:cs typeface="Calibri"/>
              </a:rPr>
              <a:t>Background</a:t>
            </a:r>
            <a:r>
              <a:rPr sz="1050" spc="1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DFD5DE"/>
                </a:solidFill>
                <a:latin typeface="Calibri"/>
                <a:cs typeface="Calibri"/>
              </a:rPr>
              <a:t>texture</a:t>
            </a:r>
            <a:r>
              <a:rPr sz="1050" spc="-3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DFD5DE"/>
                </a:solidFill>
                <a:latin typeface="Calibri"/>
                <a:cs typeface="Calibri"/>
              </a:rPr>
              <a:t>and</a:t>
            </a:r>
            <a:r>
              <a:rPr sz="1050" spc="-2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DFD5DE"/>
                </a:solidFill>
                <a:latin typeface="Calibri"/>
                <a:cs typeface="Calibri"/>
              </a:rPr>
              <a:t>noise</a:t>
            </a:r>
            <a:r>
              <a:rPr sz="1050" spc="-1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DFD5DE"/>
                </a:solidFill>
                <a:latin typeface="Calibri"/>
                <a:cs typeface="Calibri"/>
              </a:rPr>
              <a:t>patterns</a:t>
            </a:r>
            <a:r>
              <a:rPr sz="1050" spc="-3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DFD5DE"/>
                </a:solidFill>
                <a:latin typeface="Calibri"/>
                <a:cs typeface="Calibri"/>
              </a:rPr>
              <a:t>rather</a:t>
            </a:r>
            <a:r>
              <a:rPr sz="1050" spc="-4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DFD5DE"/>
                </a:solidFill>
                <a:latin typeface="Calibri"/>
                <a:cs typeface="Calibri"/>
              </a:rPr>
              <a:t>than</a:t>
            </a:r>
            <a:r>
              <a:rPr sz="1050" spc="-1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DFD5DE"/>
                </a:solidFill>
                <a:latin typeface="Calibri"/>
                <a:cs typeface="Calibri"/>
              </a:rPr>
              <a:t>document</a:t>
            </a:r>
            <a:r>
              <a:rPr sz="1050" spc="-3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DFD5DE"/>
                </a:solidFill>
                <a:latin typeface="Calibri"/>
                <a:cs typeface="Calibri"/>
              </a:rPr>
              <a:t>text</a:t>
            </a:r>
            <a:r>
              <a:rPr sz="1050" spc="-2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DFD5DE"/>
                </a:solidFill>
                <a:latin typeface="Calibri"/>
                <a:cs typeface="Calibri"/>
              </a:rPr>
              <a:t>content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75487" y="6188964"/>
            <a:ext cx="8193405" cy="1016635"/>
            <a:chOff x="475487" y="6188964"/>
            <a:chExt cx="8193405" cy="1016635"/>
          </a:xfrm>
        </p:grpSpPr>
        <p:sp>
          <p:nvSpPr>
            <p:cNvPr id="19" name="object 19"/>
            <p:cNvSpPr/>
            <p:nvPr/>
          </p:nvSpPr>
          <p:spPr>
            <a:xfrm>
              <a:off x="475487" y="6204204"/>
              <a:ext cx="8193405" cy="1001394"/>
            </a:xfrm>
            <a:custGeom>
              <a:avLst/>
              <a:gdLst/>
              <a:ahLst/>
              <a:cxnLst/>
              <a:rect l="l" t="t" r="r" b="b"/>
              <a:pathLst>
                <a:path w="8193405" h="1001395">
                  <a:moveTo>
                    <a:pt x="8119871" y="0"/>
                  </a:moveTo>
                  <a:lnTo>
                    <a:pt x="73126" y="0"/>
                  </a:lnTo>
                  <a:lnTo>
                    <a:pt x="44662" y="5750"/>
                  </a:lnTo>
                  <a:lnTo>
                    <a:pt x="21418" y="21431"/>
                  </a:lnTo>
                  <a:lnTo>
                    <a:pt x="5746" y="44684"/>
                  </a:lnTo>
                  <a:lnTo>
                    <a:pt x="0" y="73152"/>
                  </a:lnTo>
                  <a:lnTo>
                    <a:pt x="0" y="928141"/>
                  </a:lnTo>
                  <a:lnTo>
                    <a:pt x="5746" y="956605"/>
                  </a:lnTo>
                  <a:lnTo>
                    <a:pt x="21418" y="979849"/>
                  </a:lnTo>
                  <a:lnTo>
                    <a:pt x="44662" y="995521"/>
                  </a:lnTo>
                  <a:lnTo>
                    <a:pt x="73126" y="1001268"/>
                  </a:lnTo>
                  <a:lnTo>
                    <a:pt x="8119871" y="1001268"/>
                  </a:lnTo>
                  <a:lnTo>
                    <a:pt x="8148339" y="995521"/>
                  </a:lnTo>
                  <a:lnTo>
                    <a:pt x="8171592" y="979849"/>
                  </a:lnTo>
                  <a:lnTo>
                    <a:pt x="8187273" y="956605"/>
                  </a:lnTo>
                  <a:lnTo>
                    <a:pt x="8193023" y="928141"/>
                  </a:lnTo>
                  <a:lnTo>
                    <a:pt x="8193023" y="73152"/>
                  </a:lnTo>
                  <a:lnTo>
                    <a:pt x="8187273" y="44684"/>
                  </a:lnTo>
                  <a:lnTo>
                    <a:pt x="8171592" y="21431"/>
                  </a:lnTo>
                  <a:lnTo>
                    <a:pt x="8148339" y="5750"/>
                  </a:lnTo>
                  <a:lnTo>
                    <a:pt x="8119871" y="0"/>
                  </a:lnTo>
                  <a:close/>
                </a:path>
              </a:pathLst>
            </a:custGeom>
            <a:solidFill>
              <a:srgbClr val="0707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5487" y="6188964"/>
              <a:ext cx="8193023" cy="60960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4478273" y="6132067"/>
            <a:ext cx="106045" cy="215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spc="-5" dirty="0">
                <a:latin typeface="Calibri"/>
                <a:cs typeface="Calibri"/>
              </a:rPr>
              <a:t>4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13968" y="6529196"/>
            <a:ext cx="4156075" cy="5111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10" dirty="0">
                <a:solidFill>
                  <a:srgbClr val="DFD5DE"/>
                </a:solidFill>
                <a:latin typeface="Calibri"/>
                <a:cs typeface="Calibri"/>
              </a:rPr>
              <a:t>Real-</a:t>
            </a:r>
            <a:r>
              <a:rPr sz="1300" spc="-9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DFD5DE"/>
                </a:solidFill>
                <a:latin typeface="Calibri"/>
                <a:cs typeface="Calibri"/>
              </a:rPr>
              <a:t>World</a:t>
            </a:r>
            <a:r>
              <a:rPr sz="1300" spc="24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DFD5DE"/>
                </a:solidFill>
                <a:latin typeface="Calibri"/>
                <a:cs typeface="Calibri"/>
              </a:rPr>
              <a:t>Data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sz="1050" dirty="0">
                <a:solidFill>
                  <a:srgbClr val="DFD5DE"/>
                </a:solidFill>
                <a:latin typeface="Calibri"/>
                <a:cs typeface="Calibri"/>
              </a:rPr>
              <a:t>Dataset</a:t>
            </a:r>
            <a:r>
              <a:rPr sz="1050" spc="1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DFD5DE"/>
                </a:solidFill>
                <a:latin typeface="Calibri"/>
                <a:cs typeface="Calibri"/>
              </a:rPr>
              <a:t>reflects</a:t>
            </a:r>
            <a:r>
              <a:rPr sz="1050" spc="-2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DFD5DE"/>
                </a:solidFill>
                <a:latin typeface="Calibri"/>
                <a:cs typeface="Calibri"/>
              </a:rPr>
              <a:t>authentic</a:t>
            </a:r>
            <a:r>
              <a:rPr sz="1050" spc="-3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DFD5DE"/>
                </a:solidFill>
                <a:latin typeface="Calibri"/>
                <a:cs typeface="Calibri"/>
              </a:rPr>
              <a:t>scanned</a:t>
            </a:r>
            <a:r>
              <a:rPr sz="1050" spc="-1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DFD5DE"/>
                </a:solidFill>
                <a:latin typeface="Calibri"/>
                <a:cs typeface="Calibri"/>
              </a:rPr>
              <a:t>documents</a:t>
            </a:r>
            <a:r>
              <a:rPr sz="1050" spc="-2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DFD5DE"/>
                </a:solidFill>
                <a:latin typeface="Calibri"/>
                <a:cs typeface="Calibri"/>
              </a:rPr>
              <a:t>from</a:t>
            </a:r>
            <a:r>
              <a:rPr sz="1050" spc="-3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DFD5DE"/>
                </a:solidFill>
                <a:latin typeface="Calibri"/>
                <a:cs typeface="Calibri"/>
              </a:rPr>
              <a:t>various</a:t>
            </a:r>
            <a:r>
              <a:rPr sz="1050" spc="-4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DFD5DE"/>
                </a:solidFill>
                <a:latin typeface="Calibri"/>
                <a:cs typeface="Calibri"/>
              </a:rPr>
              <a:t>scanner</a:t>
            </a:r>
            <a:r>
              <a:rPr sz="1050" spc="-1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DFD5DE"/>
                </a:solidFill>
                <a:latin typeface="Calibri"/>
                <a:cs typeface="Calibri"/>
              </a:rPr>
              <a:t>models</a:t>
            </a:r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2348" y="557606"/>
            <a:ext cx="6304280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b="0" spc="-35" dirty="0">
                <a:latin typeface="Calibri Light"/>
                <a:cs typeface="Calibri Light"/>
              </a:rPr>
              <a:t>Image</a:t>
            </a:r>
            <a:r>
              <a:rPr sz="4300" b="0" spc="-175" dirty="0">
                <a:latin typeface="Calibri Light"/>
                <a:cs typeface="Calibri Light"/>
              </a:rPr>
              <a:t> </a:t>
            </a:r>
            <a:r>
              <a:rPr sz="4300" b="0" spc="-60" dirty="0">
                <a:latin typeface="Calibri Light"/>
                <a:cs typeface="Calibri Light"/>
              </a:rPr>
              <a:t>Preprocessing</a:t>
            </a:r>
            <a:r>
              <a:rPr sz="4300" b="0" spc="-170" dirty="0">
                <a:latin typeface="Calibri Light"/>
                <a:cs typeface="Calibri Light"/>
              </a:rPr>
              <a:t> </a:t>
            </a:r>
            <a:r>
              <a:rPr sz="4300" b="0" spc="-10" dirty="0">
                <a:latin typeface="Calibri Light"/>
                <a:cs typeface="Calibri Light"/>
              </a:rPr>
              <a:t>Pipeline</a:t>
            </a:r>
            <a:endParaRPr sz="43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2348" y="1663420"/>
            <a:ext cx="13064490" cy="7359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7100"/>
              </a:lnSpc>
              <a:spcBef>
                <a:spcPts val="95"/>
              </a:spcBef>
            </a:pPr>
            <a:r>
              <a:rPr sz="1700" spc="-75" dirty="0">
                <a:solidFill>
                  <a:srgbClr val="DFD5DE"/>
                </a:solidFill>
                <a:latin typeface="Calibri"/>
                <a:cs typeface="Calibri"/>
              </a:rPr>
              <a:t>To</a:t>
            </a:r>
            <a:r>
              <a:rPr sz="1700" spc="-3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DFD5DE"/>
                </a:solidFill>
                <a:latin typeface="Calibri"/>
                <a:cs typeface="Calibri"/>
              </a:rPr>
              <a:t>ensure</a:t>
            </a:r>
            <a:r>
              <a:rPr sz="1700" spc="-4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DFD5DE"/>
                </a:solidFill>
                <a:latin typeface="Calibri"/>
                <a:cs typeface="Calibri"/>
              </a:rPr>
              <a:t>consistent</a:t>
            </a:r>
            <a:r>
              <a:rPr sz="1700" spc="-5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DFD5DE"/>
                </a:solidFill>
                <a:latin typeface="Calibri"/>
                <a:cs typeface="Calibri"/>
              </a:rPr>
              <a:t>analysis</a:t>
            </a:r>
            <a:r>
              <a:rPr sz="1700" spc="-5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DFD5DE"/>
                </a:solidFill>
                <a:latin typeface="Calibri"/>
                <a:cs typeface="Calibri"/>
              </a:rPr>
              <a:t>and</a:t>
            </a:r>
            <a:r>
              <a:rPr sz="1700" spc="-4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DFD5DE"/>
                </a:solidFill>
                <a:latin typeface="Calibri"/>
                <a:cs typeface="Calibri"/>
              </a:rPr>
              <a:t>optimal</a:t>
            </a:r>
            <a:r>
              <a:rPr sz="1700" spc="-4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DFD5DE"/>
                </a:solidFill>
                <a:latin typeface="Calibri"/>
                <a:cs typeface="Calibri"/>
              </a:rPr>
              <a:t>model</a:t>
            </a:r>
            <a:r>
              <a:rPr sz="1700" spc="-2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DFD5DE"/>
                </a:solidFill>
                <a:latin typeface="Calibri"/>
                <a:cs typeface="Calibri"/>
              </a:rPr>
              <a:t>performance,</a:t>
            </a:r>
            <a:r>
              <a:rPr sz="1700" spc="-5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DFD5DE"/>
                </a:solidFill>
                <a:latin typeface="Calibri"/>
                <a:cs typeface="Calibri"/>
              </a:rPr>
              <a:t>a</a:t>
            </a:r>
            <a:r>
              <a:rPr sz="1700" spc="-5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DFD5DE"/>
                </a:solidFill>
                <a:latin typeface="Calibri"/>
                <a:cs typeface="Calibri"/>
              </a:rPr>
              <a:t>systematic</a:t>
            </a:r>
            <a:r>
              <a:rPr sz="1700" spc="-3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DFD5DE"/>
                </a:solidFill>
                <a:latin typeface="Calibri"/>
                <a:cs typeface="Calibri"/>
              </a:rPr>
              <a:t>preprocessing</a:t>
            </a:r>
            <a:r>
              <a:rPr sz="1700" spc="-3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DFD5DE"/>
                </a:solidFill>
                <a:latin typeface="Calibri"/>
                <a:cs typeface="Calibri"/>
              </a:rPr>
              <a:t>pipeline</a:t>
            </a:r>
            <a:r>
              <a:rPr sz="1700" spc="-5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DFD5DE"/>
                </a:solidFill>
                <a:latin typeface="Calibri"/>
                <a:cs typeface="Calibri"/>
              </a:rPr>
              <a:t>isolates</a:t>
            </a:r>
            <a:r>
              <a:rPr sz="1700" spc="-5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DFD5DE"/>
                </a:solidFill>
                <a:latin typeface="Calibri"/>
                <a:cs typeface="Calibri"/>
              </a:rPr>
              <a:t>scanner-specific</a:t>
            </a:r>
            <a:r>
              <a:rPr sz="1700" spc="-5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DFD5DE"/>
                </a:solidFill>
                <a:latin typeface="Calibri"/>
                <a:cs typeface="Calibri"/>
              </a:rPr>
              <a:t>artifacts</a:t>
            </a:r>
            <a:r>
              <a:rPr sz="1700" spc="-2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DFD5DE"/>
                </a:solidFill>
                <a:latin typeface="Calibri"/>
                <a:cs typeface="Calibri"/>
              </a:rPr>
              <a:t>while</a:t>
            </a:r>
            <a:r>
              <a:rPr sz="1700" spc="-5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DFD5DE"/>
                </a:solidFill>
                <a:latin typeface="Calibri"/>
                <a:cs typeface="Calibri"/>
              </a:rPr>
              <a:t>preserving </a:t>
            </a:r>
            <a:r>
              <a:rPr sz="1700" dirty="0">
                <a:solidFill>
                  <a:srgbClr val="DFD5DE"/>
                </a:solidFill>
                <a:latin typeface="Calibri"/>
                <a:cs typeface="Calibri"/>
              </a:rPr>
              <a:t>critical</a:t>
            </a:r>
            <a:r>
              <a:rPr sz="1700" spc="-4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DFD5DE"/>
                </a:solidFill>
                <a:latin typeface="Calibri"/>
                <a:cs typeface="Calibri"/>
              </a:rPr>
              <a:t>noise</a:t>
            </a:r>
            <a:r>
              <a:rPr sz="1700" spc="-2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DFD5DE"/>
                </a:solidFill>
                <a:latin typeface="Calibri"/>
                <a:cs typeface="Calibri"/>
              </a:rPr>
              <a:t>patterns.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0889" y="3731132"/>
            <a:ext cx="2501900" cy="353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dirty="0">
                <a:solidFill>
                  <a:srgbClr val="DFD5DE"/>
                </a:solidFill>
                <a:latin typeface="Calibri"/>
                <a:cs typeface="Calibri"/>
              </a:rPr>
              <a:t>Grayscale</a:t>
            </a:r>
            <a:r>
              <a:rPr sz="2150" spc="12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DFD5DE"/>
                </a:solidFill>
                <a:latin typeface="Calibri"/>
                <a:cs typeface="Calibri"/>
              </a:rPr>
              <a:t>Conversion</a:t>
            </a:r>
            <a:endParaRPr sz="215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5048" y="2665476"/>
            <a:ext cx="13100304" cy="87477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70889" y="4173702"/>
            <a:ext cx="5525135" cy="7359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7100"/>
              </a:lnSpc>
              <a:spcBef>
                <a:spcPts val="95"/>
              </a:spcBef>
            </a:pPr>
            <a:r>
              <a:rPr sz="1700" dirty="0">
                <a:solidFill>
                  <a:srgbClr val="DFD5DE"/>
                </a:solidFill>
                <a:latin typeface="Calibri"/>
                <a:cs typeface="Calibri"/>
              </a:rPr>
              <a:t>Convert</a:t>
            </a:r>
            <a:r>
              <a:rPr sz="1700" spc="-7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DFD5DE"/>
                </a:solidFill>
                <a:latin typeface="Calibri"/>
                <a:cs typeface="Calibri"/>
              </a:rPr>
              <a:t>to</a:t>
            </a:r>
            <a:r>
              <a:rPr sz="1700" spc="-2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DFD5DE"/>
                </a:solidFill>
                <a:latin typeface="Calibri"/>
                <a:cs typeface="Calibri"/>
              </a:rPr>
              <a:t>grayscale</a:t>
            </a:r>
            <a:r>
              <a:rPr sz="1700" spc="-5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DFD5DE"/>
                </a:solidFill>
                <a:latin typeface="Calibri"/>
                <a:cs typeface="Calibri"/>
              </a:rPr>
              <a:t>to</a:t>
            </a:r>
            <a:r>
              <a:rPr sz="1700" spc="-3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DFD5DE"/>
                </a:solidFill>
                <a:latin typeface="Calibri"/>
                <a:cs typeface="Calibri"/>
              </a:rPr>
              <a:t>emphasize</a:t>
            </a:r>
            <a:r>
              <a:rPr sz="1700" spc="-5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DFD5DE"/>
                </a:solidFill>
                <a:latin typeface="Calibri"/>
                <a:cs typeface="Calibri"/>
              </a:rPr>
              <a:t>texture</a:t>
            </a:r>
            <a:r>
              <a:rPr sz="1700" spc="-4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DFD5DE"/>
                </a:solidFill>
                <a:latin typeface="Calibri"/>
                <a:cs typeface="Calibri"/>
              </a:rPr>
              <a:t>and</a:t>
            </a:r>
            <a:r>
              <a:rPr sz="1700" spc="-4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DFD5DE"/>
                </a:solidFill>
                <a:latin typeface="Calibri"/>
                <a:cs typeface="Calibri"/>
              </a:rPr>
              <a:t>noise</a:t>
            </a:r>
            <a:r>
              <a:rPr sz="1700" spc="-5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DFD5DE"/>
                </a:solidFill>
                <a:latin typeface="Calibri"/>
                <a:cs typeface="Calibri"/>
              </a:rPr>
              <a:t>over</a:t>
            </a:r>
            <a:r>
              <a:rPr sz="1700" spc="-3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DFD5DE"/>
                </a:solidFill>
                <a:latin typeface="Calibri"/>
                <a:cs typeface="Calibri"/>
              </a:rPr>
              <a:t>color variations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21702" y="3731132"/>
            <a:ext cx="1769745" cy="353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dirty="0">
                <a:solidFill>
                  <a:srgbClr val="DFD5DE"/>
                </a:solidFill>
                <a:latin typeface="Calibri"/>
                <a:cs typeface="Calibri"/>
              </a:rPr>
              <a:t>Imag</a:t>
            </a:r>
            <a:r>
              <a:rPr sz="2150" spc="-12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DFD5DE"/>
                </a:solidFill>
                <a:latin typeface="Calibri"/>
                <a:cs typeface="Calibri"/>
              </a:rPr>
              <a:t>e</a:t>
            </a:r>
            <a:r>
              <a:rPr sz="2150" spc="15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DFD5DE"/>
                </a:solidFill>
                <a:latin typeface="Calibri"/>
                <a:cs typeface="Calibri"/>
              </a:rPr>
              <a:t>Resizing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521702" y="4269104"/>
            <a:ext cx="597979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dirty="0">
                <a:solidFill>
                  <a:srgbClr val="DFD5DE"/>
                </a:solidFill>
                <a:latin typeface="Calibri"/>
                <a:cs typeface="Calibri"/>
              </a:rPr>
              <a:t>Standardize</a:t>
            </a:r>
            <a:r>
              <a:rPr sz="1700" spc="-2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DFD5DE"/>
                </a:solidFill>
                <a:latin typeface="Calibri"/>
                <a:cs typeface="Calibri"/>
              </a:rPr>
              <a:t>dimensions</a:t>
            </a:r>
            <a:r>
              <a:rPr sz="1700" spc="-5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DFD5DE"/>
                </a:solidFill>
                <a:latin typeface="Calibri"/>
                <a:cs typeface="Calibri"/>
              </a:rPr>
              <a:t>for</a:t>
            </a:r>
            <a:r>
              <a:rPr sz="1700" spc="-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DFD5DE"/>
                </a:solidFill>
                <a:latin typeface="Calibri"/>
                <a:cs typeface="Calibri"/>
              </a:rPr>
              <a:t>uniform</a:t>
            </a:r>
            <a:r>
              <a:rPr sz="1700" spc="-4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DFD5DE"/>
                </a:solidFill>
                <a:latin typeface="Calibri"/>
                <a:cs typeface="Calibri"/>
              </a:rPr>
              <a:t>input</a:t>
            </a:r>
            <a:r>
              <a:rPr sz="1700" spc="-4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DFD5DE"/>
                </a:solidFill>
                <a:latin typeface="Calibri"/>
                <a:cs typeface="Calibri"/>
              </a:rPr>
              <a:t>across</a:t>
            </a:r>
            <a:r>
              <a:rPr sz="1700" spc="-3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DFD5DE"/>
                </a:solidFill>
                <a:latin typeface="Calibri"/>
                <a:cs typeface="Calibri"/>
              </a:rPr>
              <a:t>all</a:t>
            </a:r>
            <a:r>
              <a:rPr sz="1700" spc="-3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DFD5DE"/>
                </a:solidFill>
                <a:latin typeface="Calibri"/>
                <a:cs typeface="Calibri"/>
              </a:rPr>
              <a:t>scanner</a:t>
            </a:r>
            <a:r>
              <a:rPr sz="1700" spc="-5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DFD5DE"/>
                </a:solidFill>
                <a:latin typeface="Calibri"/>
                <a:cs typeface="Calibri"/>
              </a:rPr>
              <a:t>sources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70889" y="6214109"/>
            <a:ext cx="2314575" cy="353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dirty="0">
                <a:solidFill>
                  <a:srgbClr val="DFD5DE"/>
                </a:solidFill>
                <a:latin typeface="Calibri"/>
                <a:cs typeface="Calibri"/>
              </a:rPr>
              <a:t>Pixel</a:t>
            </a:r>
            <a:r>
              <a:rPr sz="2150" spc="20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DFD5DE"/>
                </a:solidFill>
                <a:latin typeface="Calibri"/>
                <a:cs typeface="Calibri"/>
              </a:rPr>
              <a:t>Norm</a:t>
            </a:r>
            <a:r>
              <a:rPr sz="2150" spc="-18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DFD5DE"/>
                </a:solidFill>
                <a:latin typeface="Calibri"/>
                <a:cs typeface="Calibri"/>
              </a:rPr>
              <a:t>alization</a:t>
            </a:r>
            <a:endParaRPr sz="215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5048" y="5148071"/>
            <a:ext cx="13100304" cy="874776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970889" y="6751726"/>
            <a:ext cx="561403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dirty="0">
                <a:solidFill>
                  <a:srgbClr val="DFD5DE"/>
                </a:solidFill>
                <a:latin typeface="Calibri"/>
                <a:cs typeface="Calibri"/>
              </a:rPr>
              <a:t>Scale</a:t>
            </a:r>
            <a:r>
              <a:rPr sz="1700" spc="3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DFD5DE"/>
                </a:solidFill>
                <a:latin typeface="Calibri"/>
                <a:cs typeface="Calibri"/>
              </a:rPr>
              <a:t>pixel</a:t>
            </a:r>
            <a:r>
              <a:rPr sz="1700" spc="-4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DFD5DE"/>
                </a:solidFill>
                <a:latin typeface="Calibri"/>
                <a:cs typeface="Calibri"/>
              </a:rPr>
              <a:t>values</a:t>
            </a:r>
            <a:r>
              <a:rPr sz="1700" spc="-2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DFD5DE"/>
                </a:solidFill>
                <a:latin typeface="Calibri"/>
                <a:cs typeface="Calibri"/>
              </a:rPr>
              <a:t>for</a:t>
            </a:r>
            <a:r>
              <a:rPr sz="1700" spc="-3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DFD5DE"/>
                </a:solidFill>
                <a:latin typeface="Calibri"/>
                <a:cs typeface="Calibri"/>
              </a:rPr>
              <a:t>stable</a:t>
            </a:r>
            <a:r>
              <a:rPr sz="1700" spc="-3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DFD5DE"/>
                </a:solidFill>
                <a:latin typeface="Calibri"/>
                <a:cs typeface="Calibri"/>
              </a:rPr>
              <a:t>learning</a:t>
            </a:r>
            <a:r>
              <a:rPr sz="1700" spc="-2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DFD5DE"/>
                </a:solidFill>
                <a:latin typeface="Calibri"/>
                <a:cs typeface="Calibri"/>
              </a:rPr>
              <a:t>and</a:t>
            </a:r>
            <a:r>
              <a:rPr sz="1700" spc="-2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DFD5DE"/>
                </a:solidFill>
                <a:latin typeface="Calibri"/>
                <a:cs typeface="Calibri"/>
              </a:rPr>
              <a:t>improved</a:t>
            </a:r>
            <a:r>
              <a:rPr sz="1700" spc="-2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DFD5DE"/>
                </a:solidFill>
                <a:latin typeface="Calibri"/>
                <a:cs typeface="Calibri"/>
              </a:rPr>
              <a:t>convergence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521702" y="6214109"/>
            <a:ext cx="2411095" cy="353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dirty="0">
                <a:solidFill>
                  <a:srgbClr val="DFD5DE"/>
                </a:solidFill>
                <a:latin typeface="Calibri"/>
                <a:cs typeface="Calibri"/>
              </a:rPr>
              <a:t>Artifact</a:t>
            </a:r>
            <a:r>
              <a:rPr sz="2150" spc="3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DFD5DE"/>
                </a:solidFill>
                <a:latin typeface="Calibri"/>
                <a:cs typeface="Calibri"/>
              </a:rPr>
              <a:t>Preservation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521702" y="6655945"/>
            <a:ext cx="5275580" cy="736600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sz="1700" dirty="0">
                <a:solidFill>
                  <a:srgbClr val="DFD5DE"/>
                </a:solidFill>
                <a:latin typeface="Calibri"/>
                <a:cs typeface="Calibri"/>
              </a:rPr>
              <a:t>Apply</a:t>
            </a:r>
            <a:r>
              <a:rPr sz="1700" spc="-3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DFD5DE"/>
                </a:solidFill>
                <a:latin typeface="Calibri"/>
                <a:cs typeface="Calibri"/>
              </a:rPr>
              <a:t>noise-preserving</a:t>
            </a:r>
            <a:r>
              <a:rPr sz="1700" spc="-2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DFD5DE"/>
                </a:solidFill>
                <a:latin typeface="Calibri"/>
                <a:cs typeface="Calibri"/>
              </a:rPr>
              <a:t>transformations</a:t>
            </a:r>
            <a:r>
              <a:rPr sz="1700" spc="-3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DFD5DE"/>
                </a:solidFill>
                <a:latin typeface="Calibri"/>
                <a:cs typeface="Calibri"/>
              </a:rPr>
              <a:t>to</a:t>
            </a:r>
            <a:r>
              <a:rPr sz="1700" spc="1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DFD5DE"/>
                </a:solidFill>
                <a:latin typeface="Calibri"/>
                <a:cs typeface="Calibri"/>
              </a:rPr>
              <a:t>maintain</a:t>
            </a:r>
            <a:r>
              <a:rPr sz="1700" spc="1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DFD5DE"/>
                </a:solidFill>
                <a:latin typeface="Calibri"/>
                <a:cs typeface="Calibri"/>
              </a:rPr>
              <a:t>scanner</a:t>
            </a:r>
            <a:endParaRPr sz="1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1700" spc="-10" dirty="0">
                <a:solidFill>
                  <a:srgbClr val="DFD5DE"/>
                </a:solidFill>
                <a:latin typeface="Calibri"/>
                <a:cs typeface="Calibri"/>
              </a:rPr>
              <a:t>fingerprints</a:t>
            </a:r>
            <a:endParaRPr sz="1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0216" y="488442"/>
            <a:ext cx="5304790" cy="598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750" b="0" spc="-20" dirty="0">
                <a:latin typeface="Calibri Light"/>
                <a:cs typeface="Calibri Light"/>
              </a:rPr>
              <a:t>Machine</a:t>
            </a:r>
            <a:r>
              <a:rPr sz="3750" b="0" spc="-145" dirty="0">
                <a:latin typeface="Calibri Light"/>
                <a:cs typeface="Calibri Light"/>
              </a:rPr>
              <a:t> </a:t>
            </a:r>
            <a:r>
              <a:rPr sz="3750" b="0" spc="-20" dirty="0">
                <a:latin typeface="Calibri Light"/>
                <a:cs typeface="Calibri Light"/>
              </a:rPr>
              <a:t>Learning</a:t>
            </a:r>
            <a:r>
              <a:rPr sz="3750" b="0" spc="-135" dirty="0">
                <a:latin typeface="Calibri Light"/>
                <a:cs typeface="Calibri Light"/>
              </a:rPr>
              <a:t> </a:t>
            </a:r>
            <a:r>
              <a:rPr sz="3750" b="0" spc="-25" dirty="0">
                <a:latin typeface="Calibri Light"/>
                <a:cs typeface="Calibri Light"/>
              </a:rPr>
              <a:t>Approach</a:t>
            </a:r>
            <a:endParaRPr sz="375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2916" y="1635251"/>
            <a:ext cx="5847588" cy="584758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545451" y="1578940"/>
            <a:ext cx="3639820" cy="3702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85" dirty="0">
                <a:solidFill>
                  <a:srgbClr val="96B8FF"/>
                </a:solidFill>
                <a:latin typeface="Calibri"/>
                <a:cs typeface="Calibri"/>
              </a:rPr>
              <a:t>Supervised</a:t>
            </a:r>
            <a:r>
              <a:rPr sz="2250" spc="114" dirty="0">
                <a:solidFill>
                  <a:srgbClr val="96B8FF"/>
                </a:solidFill>
                <a:latin typeface="Calibri"/>
                <a:cs typeface="Calibri"/>
              </a:rPr>
              <a:t> </a:t>
            </a:r>
            <a:r>
              <a:rPr sz="2250" dirty="0">
                <a:solidFill>
                  <a:srgbClr val="96B8FF"/>
                </a:solidFill>
                <a:latin typeface="Calibri"/>
                <a:cs typeface="Calibri"/>
              </a:rPr>
              <a:t>Learning</a:t>
            </a:r>
            <a:r>
              <a:rPr sz="2250" spc="434" dirty="0">
                <a:solidFill>
                  <a:srgbClr val="96B8FF"/>
                </a:solidFill>
                <a:latin typeface="Calibri"/>
                <a:cs typeface="Calibri"/>
              </a:rPr>
              <a:t> </a:t>
            </a:r>
            <a:r>
              <a:rPr sz="2250" dirty="0">
                <a:solidFill>
                  <a:srgbClr val="96B8FF"/>
                </a:solidFill>
                <a:latin typeface="Calibri"/>
                <a:cs typeface="Calibri"/>
              </a:rPr>
              <a:t>Strateg</a:t>
            </a:r>
            <a:r>
              <a:rPr sz="2250" spc="-120" dirty="0">
                <a:solidFill>
                  <a:srgbClr val="96B8FF"/>
                </a:solidFill>
                <a:latin typeface="Calibri"/>
                <a:cs typeface="Calibri"/>
              </a:rPr>
              <a:t> </a:t>
            </a:r>
            <a:r>
              <a:rPr sz="2250" spc="-50" dirty="0">
                <a:solidFill>
                  <a:srgbClr val="96B8FF"/>
                </a:solidFill>
                <a:latin typeface="Calibri"/>
                <a:cs typeface="Calibri"/>
              </a:rPr>
              <a:t>y</a:t>
            </a:r>
            <a:endParaRPr sz="225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34656" y="3895344"/>
            <a:ext cx="45718" cy="115519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34656" y="5388864"/>
            <a:ext cx="45720" cy="115366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545451" y="2113661"/>
            <a:ext cx="5802630" cy="5208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36525">
              <a:lnSpc>
                <a:spcPct val="133400"/>
              </a:lnSpc>
              <a:spcBef>
                <a:spcPts val="100"/>
              </a:spcBef>
            </a:pP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A</a:t>
            </a:r>
            <a:r>
              <a:rPr sz="1500" spc="-1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supervised</a:t>
            </a:r>
            <a:r>
              <a:rPr sz="1500" spc="-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machine</a:t>
            </a:r>
            <a:r>
              <a:rPr sz="1500" spc="-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learning</a:t>
            </a:r>
            <a:r>
              <a:rPr sz="1500" spc="-3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model</a:t>
            </a:r>
            <a:r>
              <a:rPr sz="1500" spc="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is</a:t>
            </a:r>
            <a:r>
              <a:rPr sz="1500" spc="-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trained</a:t>
            </a:r>
            <a:r>
              <a:rPr sz="1500" spc="-1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to</a:t>
            </a:r>
            <a:r>
              <a:rPr sz="1500" spc="-2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learn </a:t>
            </a:r>
            <a:r>
              <a:rPr sz="1500" spc="-10" dirty="0">
                <a:solidFill>
                  <a:srgbClr val="DFD5DE"/>
                </a:solidFill>
                <a:latin typeface="Calibri"/>
                <a:cs typeface="Calibri"/>
              </a:rPr>
              <a:t>scanner-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dependent</a:t>
            </a:r>
            <a:r>
              <a:rPr sz="1500" spc="-6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patterns</a:t>
            </a:r>
            <a:r>
              <a:rPr sz="1500" spc="-6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through</a:t>
            </a:r>
            <a:r>
              <a:rPr sz="1500" spc="-6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DFD5DE"/>
                </a:solidFill>
                <a:latin typeface="Calibri"/>
                <a:cs typeface="Calibri"/>
              </a:rPr>
              <a:t>systematic</a:t>
            </a:r>
            <a:r>
              <a:rPr sz="1500" spc="-7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feature</a:t>
            </a:r>
            <a:r>
              <a:rPr sz="1500" spc="-4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extraction</a:t>
            </a:r>
            <a:r>
              <a:rPr sz="1500" spc="-3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spc="-25" dirty="0">
                <a:solidFill>
                  <a:srgbClr val="DFD5DE"/>
                </a:solidFill>
                <a:latin typeface="Calibri"/>
                <a:cs typeface="Calibri"/>
              </a:rPr>
              <a:t>and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classification.</a:t>
            </a:r>
            <a:r>
              <a:rPr sz="1500" spc="-6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The</a:t>
            </a:r>
            <a:r>
              <a:rPr sz="1500" spc="-3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model</a:t>
            </a:r>
            <a:r>
              <a:rPr sz="1500" spc="-2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architecture</a:t>
            </a:r>
            <a:r>
              <a:rPr sz="1500" spc="-4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focuses</a:t>
            </a:r>
            <a:r>
              <a:rPr sz="1500" spc="-2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on</a:t>
            </a:r>
            <a:r>
              <a:rPr sz="1500" spc="-4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capturing</a:t>
            </a:r>
            <a:r>
              <a:rPr sz="1500" spc="-5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subtle</a:t>
            </a:r>
            <a:r>
              <a:rPr sz="1500" spc="-2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DFD5DE"/>
                </a:solidFill>
                <a:latin typeface="Calibri"/>
                <a:cs typeface="Calibri"/>
              </a:rPr>
              <a:t>texture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and</a:t>
            </a:r>
            <a:r>
              <a:rPr sz="1500" spc="-4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noise</a:t>
            </a:r>
            <a:r>
              <a:rPr sz="1500" spc="-2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features</a:t>
            </a:r>
            <a:r>
              <a:rPr sz="1500" spc="-2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that</a:t>
            </a:r>
            <a:r>
              <a:rPr sz="1500" spc="-4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are</a:t>
            </a:r>
            <a:r>
              <a:rPr sz="1500" spc="-2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unique</a:t>
            </a:r>
            <a:r>
              <a:rPr sz="1500" spc="-2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to</a:t>
            </a:r>
            <a:r>
              <a:rPr sz="1500" spc="-3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each</a:t>
            </a:r>
            <a:r>
              <a:rPr sz="1500" spc="-3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scanner</a:t>
            </a:r>
            <a:r>
              <a:rPr sz="1500" spc="-1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DFD5DE"/>
                </a:solidFill>
                <a:latin typeface="Calibri"/>
                <a:cs typeface="Calibri"/>
              </a:rPr>
              <a:t>device.</a:t>
            </a: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150">
              <a:latin typeface="Calibri"/>
              <a:cs typeface="Calibri"/>
            </a:endParaRPr>
          </a:p>
          <a:p>
            <a:pPr marL="250190">
              <a:lnSpc>
                <a:spcPct val="100000"/>
              </a:lnSpc>
            </a:pPr>
            <a:r>
              <a:rPr sz="1850" dirty="0">
                <a:solidFill>
                  <a:srgbClr val="DFD5DE"/>
                </a:solidFill>
                <a:latin typeface="Calibri"/>
                <a:cs typeface="Calibri"/>
              </a:rPr>
              <a:t>Feature</a:t>
            </a:r>
            <a:r>
              <a:rPr sz="1850" spc="13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DFD5DE"/>
                </a:solidFill>
                <a:latin typeface="Calibri"/>
                <a:cs typeface="Calibri"/>
              </a:rPr>
              <a:t>Extractio</a:t>
            </a:r>
            <a:r>
              <a:rPr sz="1850" spc="-22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850" spc="-50" dirty="0">
                <a:solidFill>
                  <a:srgbClr val="DFD5DE"/>
                </a:solidFill>
                <a:latin typeface="Calibri"/>
                <a:cs typeface="Calibri"/>
              </a:rPr>
              <a:t>n</a:t>
            </a:r>
            <a:endParaRPr sz="1850">
              <a:latin typeface="Calibri"/>
              <a:cs typeface="Calibri"/>
            </a:endParaRPr>
          </a:p>
          <a:p>
            <a:pPr marL="250190" marR="726440">
              <a:lnSpc>
                <a:spcPct val="133300"/>
              </a:lnSpc>
              <a:spcBef>
                <a:spcPts val="1410"/>
              </a:spcBef>
            </a:pP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Deep</a:t>
            </a:r>
            <a:r>
              <a:rPr sz="1500" spc="7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learning layers</a:t>
            </a:r>
            <a:r>
              <a:rPr sz="1500" spc="1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identify</a:t>
            </a:r>
            <a:r>
              <a:rPr sz="1500" spc="1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DFD5DE"/>
                </a:solidFill>
                <a:latin typeface="Calibri"/>
                <a:cs typeface="Calibri"/>
              </a:rPr>
              <a:t>scanner-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specific</a:t>
            </a:r>
            <a:r>
              <a:rPr sz="1500" spc="3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noise</a:t>
            </a:r>
            <a:r>
              <a:rPr sz="1500" spc="2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DFD5DE"/>
                </a:solidFill>
                <a:latin typeface="Calibri"/>
                <a:cs typeface="Calibri"/>
              </a:rPr>
              <a:t>signatures automatically</a:t>
            </a: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Calibri"/>
              <a:cs typeface="Calibri"/>
            </a:endParaRPr>
          </a:p>
          <a:p>
            <a:pPr marL="250190">
              <a:lnSpc>
                <a:spcPct val="100000"/>
              </a:lnSpc>
            </a:pPr>
            <a:r>
              <a:rPr sz="1850" dirty="0">
                <a:solidFill>
                  <a:srgbClr val="DFD5DE"/>
                </a:solidFill>
                <a:latin typeface="Calibri"/>
                <a:cs typeface="Calibri"/>
              </a:rPr>
              <a:t>Pattern</a:t>
            </a:r>
            <a:r>
              <a:rPr sz="1850" spc="10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DFD5DE"/>
                </a:solidFill>
                <a:latin typeface="Calibri"/>
                <a:cs typeface="Calibri"/>
              </a:rPr>
              <a:t>Recog</a:t>
            </a:r>
            <a:r>
              <a:rPr sz="1850" spc="-7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DFD5DE"/>
                </a:solidFill>
                <a:latin typeface="Calibri"/>
                <a:cs typeface="Calibri"/>
              </a:rPr>
              <a:t>nitio</a:t>
            </a:r>
            <a:r>
              <a:rPr sz="1850" spc="-22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850" spc="-50" dirty="0">
                <a:solidFill>
                  <a:srgbClr val="DFD5DE"/>
                </a:solidFill>
                <a:latin typeface="Calibri"/>
                <a:cs typeface="Calibri"/>
              </a:rPr>
              <a:t>n</a:t>
            </a:r>
            <a:endParaRPr sz="18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600">
              <a:latin typeface="Calibri"/>
              <a:cs typeface="Calibri"/>
            </a:endParaRPr>
          </a:p>
          <a:p>
            <a:pPr marL="250190">
              <a:lnSpc>
                <a:spcPct val="100000"/>
              </a:lnSpc>
              <a:spcBef>
                <a:spcPts val="5"/>
              </a:spcBef>
            </a:pP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Classification</a:t>
            </a:r>
            <a:r>
              <a:rPr sz="1500" spc="-5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algorithm</a:t>
            </a:r>
            <a:r>
              <a:rPr sz="1500" spc="-5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distinguishes</a:t>
            </a:r>
            <a:r>
              <a:rPr sz="1500" spc="-4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between</a:t>
            </a:r>
            <a:r>
              <a:rPr sz="1500" spc="-1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multiple</a:t>
            </a:r>
            <a:r>
              <a:rPr sz="1500" spc="-2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scanner</a:t>
            </a:r>
            <a:r>
              <a:rPr sz="1500" spc="-3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DFD5DE"/>
                </a:solidFill>
                <a:latin typeface="Calibri"/>
                <a:cs typeface="Calibri"/>
              </a:rPr>
              <a:t>sources</a:t>
            </a: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850">
              <a:latin typeface="Calibri"/>
              <a:cs typeface="Calibri"/>
            </a:endParaRPr>
          </a:p>
          <a:p>
            <a:pPr marL="12700" marR="51435">
              <a:lnSpc>
                <a:spcPct val="133300"/>
              </a:lnSpc>
            </a:pP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This</a:t>
            </a:r>
            <a:r>
              <a:rPr sz="1500" spc="-4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approach</a:t>
            </a:r>
            <a:r>
              <a:rPr sz="1500" spc="-5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enables</a:t>
            </a:r>
            <a:r>
              <a:rPr sz="1500" spc="-4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accurate</a:t>
            </a:r>
            <a:r>
              <a:rPr sz="1500" spc="-4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classification</a:t>
            </a:r>
            <a:r>
              <a:rPr sz="1500" spc="-3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even</a:t>
            </a:r>
            <a:r>
              <a:rPr sz="1500" spc="-1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when</a:t>
            </a:r>
            <a:r>
              <a:rPr sz="1500" spc="-2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visual</a:t>
            </a:r>
            <a:r>
              <a:rPr sz="1500" spc="-3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DFD5DE"/>
                </a:solidFill>
                <a:latin typeface="Calibri"/>
                <a:cs typeface="Calibri"/>
              </a:rPr>
              <a:t>differences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are</a:t>
            </a:r>
            <a:r>
              <a:rPr sz="1500" spc="-2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imperceptible</a:t>
            </a:r>
            <a:r>
              <a:rPr sz="1500" spc="-1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to</a:t>
            </a:r>
            <a:r>
              <a:rPr sz="1500" spc="-3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DFD5DE"/>
                </a:solidFill>
                <a:latin typeface="Calibri"/>
                <a:cs typeface="Calibri"/>
              </a:rPr>
              <a:t>human</a:t>
            </a:r>
            <a:r>
              <a:rPr sz="1500" spc="-2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DFD5DE"/>
                </a:solidFill>
                <a:latin typeface="Calibri"/>
                <a:cs typeface="Calibri"/>
              </a:rPr>
              <a:t>observers.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9053" y="1255903"/>
            <a:ext cx="4346575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b="0" spc="-70" dirty="0">
                <a:latin typeface="Calibri Light"/>
                <a:cs typeface="Calibri Light"/>
              </a:rPr>
              <a:t>System</a:t>
            </a:r>
            <a:r>
              <a:rPr sz="4300" b="0" spc="-145" dirty="0">
                <a:latin typeface="Calibri Light"/>
                <a:cs typeface="Calibri Light"/>
              </a:rPr>
              <a:t> </a:t>
            </a:r>
            <a:r>
              <a:rPr sz="4300" b="0" spc="-35" dirty="0">
                <a:latin typeface="Calibri Light"/>
                <a:cs typeface="Calibri Light"/>
              </a:rPr>
              <a:t>Architecture</a:t>
            </a:r>
            <a:endParaRPr sz="43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9053" y="2356485"/>
            <a:ext cx="24511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25" dirty="0">
                <a:solidFill>
                  <a:srgbClr val="DFD5DE"/>
                </a:solidFill>
                <a:latin typeface="Calibri"/>
                <a:cs typeface="Calibri"/>
              </a:rPr>
              <a:t>01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9053" y="2806064"/>
            <a:ext cx="1728470" cy="353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dirty="0">
                <a:solidFill>
                  <a:srgbClr val="DFD5DE"/>
                </a:solidFill>
                <a:latin typeface="Calibri"/>
                <a:cs typeface="Calibri"/>
              </a:rPr>
              <a:t>Imag</a:t>
            </a:r>
            <a:r>
              <a:rPr sz="2150" spc="-12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DFD5DE"/>
                </a:solidFill>
                <a:latin typeface="Calibri"/>
                <a:cs typeface="Calibri"/>
              </a:rPr>
              <a:t>e</a:t>
            </a:r>
            <a:r>
              <a:rPr sz="2150" spc="16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2150" spc="95" dirty="0">
                <a:solidFill>
                  <a:srgbClr val="DFD5DE"/>
                </a:solidFill>
                <a:latin typeface="Calibri"/>
                <a:cs typeface="Calibri"/>
              </a:rPr>
              <a:t>Uplo</a:t>
            </a:r>
            <a:r>
              <a:rPr sz="2150" spc="-254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2150" spc="-25" dirty="0">
                <a:solidFill>
                  <a:srgbClr val="DFD5DE"/>
                </a:solidFill>
                <a:latin typeface="Calibri"/>
                <a:cs typeface="Calibri"/>
              </a:rPr>
              <a:t>ad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9053" y="3252320"/>
            <a:ext cx="4083050" cy="736600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sz="1700" dirty="0">
                <a:solidFill>
                  <a:srgbClr val="DFD5DE"/>
                </a:solidFill>
                <a:latin typeface="Calibri"/>
                <a:cs typeface="Calibri"/>
              </a:rPr>
              <a:t>User</a:t>
            </a:r>
            <a:r>
              <a:rPr sz="1700" spc="4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DFD5DE"/>
                </a:solidFill>
                <a:latin typeface="Calibri"/>
                <a:cs typeface="Calibri"/>
              </a:rPr>
              <a:t>uploads</a:t>
            </a:r>
            <a:r>
              <a:rPr sz="1700" spc="-3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DFD5DE"/>
                </a:solidFill>
                <a:latin typeface="Calibri"/>
                <a:cs typeface="Calibri"/>
              </a:rPr>
              <a:t>scanned</a:t>
            </a:r>
            <a:r>
              <a:rPr sz="1700" spc="-4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DFD5DE"/>
                </a:solidFill>
                <a:latin typeface="Calibri"/>
                <a:cs typeface="Calibri"/>
              </a:rPr>
              <a:t>document</a:t>
            </a:r>
            <a:r>
              <a:rPr sz="1700" spc="-1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DFD5DE"/>
                </a:solidFill>
                <a:latin typeface="Calibri"/>
                <a:cs typeface="Calibri"/>
              </a:rPr>
              <a:t>through</a:t>
            </a:r>
            <a:r>
              <a:rPr sz="1700" spc="-4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00" spc="-25" dirty="0">
                <a:solidFill>
                  <a:srgbClr val="DFD5DE"/>
                </a:solidFill>
                <a:latin typeface="Calibri"/>
                <a:cs typeface="Calibri"/>
              </a:rPr>
              <a:t>web</a:t>
            </a:r>
            <a:endParaRPr sz="1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1700" spc="-10" dirty="0">
                <a:solidFill>
                  <a:srgbClr val="DFD5DE"/>
                </a:solidFill>
                <a:latin typeface="Calibri"/>
                <a:cs typeface="Calibri"/>
              </a:rPr>
              <a:t>interface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95442" y="2356485"/>
            <a:ext cx="24828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25" dirty="0">
                <a:solidFill>
                  <a:srgbClr val="DFD5DE"/>
                </a:solidFill>
                <a:latin typeface="Calibri"/>
                <a:cs typeface="Calibri"/>
              </a:rPr>
              <a:t>02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95442" y="2806064"/>
            <a:ext cx="1680210" cy="353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spc="40" dirty="0">
                <a:solidFill>
                  <a:srgbClr val="DFD5DE"/>
                </a:solidFill>
                <a:latin typeface="Calibri"/>
                <a:cs typeface="Calibri"/>
              </a:rPr>
              <a:t>Preprocessing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95442" y="3252320"/>
            <a:ext cx="4216400" cy="736600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sz="1700" dirty="0">
                <a:solidFill>
                  <a:srgbClr val="DFD5DE"/>
                </a:solidFill>
                <a:latin typeface="Calibri"/>
                <a:cs typeface="Calibri"/>
              </a:rPr>
              <a:t>Automated</a:t>
            </a:r>
            <a:r>
              <a:rPr sz="1700" spc="-4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DFD5DE"/>
                </a:solidFill>
                <a:latin typeface="Calibri"/>
                <a:cs typeface="Calibri"/>
              </a:rPr>
              <a:t>pipeline</a:t>
            </a:r>
            <a:r>
              <a:rPr sz="1700" spc="-6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DFD5DE"/>
                </a:solidFill>
                <a:latin typeface="Calibri"/>
                <a:cs typeface="Calibri"/>
              </a:rPr>
              <a:t>applies</a:t>
            </a:r>
            <a:r>
              <a:rPr sz="1700" spc="-7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DFD5DE"/>
                </a:solidFill>
                <a:latin typeface="Calibri"/>
                <a:cs typeface="Calibri"/>
              </a:rPr>
              <a:t>standardization</a:t>
            </a:r>
            <a:r>
              <a:rPr sz="1700" spc="-3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00" spc="-25" dirty="0">
                <a:solidFill>
                  <a:srgbClr val="DFD5DE"/>
                </a:solidFill>
                <a:latin typeface="Calibri"/>
                <a:cs typeface="Calibri"/>
              </a:rPr>
              <a:t>and</a:t>
            </a:r>
            <a:endParaRPr sz="1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1700" dirty="0">
                <a:solidFill>
                  <a:srgbClr val="DFD5DE"/>
                </a:solidFill>
                <a:latin typeface="Calibri"/>
                <a:cs typeface="Calibri"/>
              </a:rPr>
              <a:t>noise</a:t>
            </a:r>
            <a:r>
              <a:rPr sz="1700" spc="-2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DFD5DE"/>
                </a:solidFill>
                <a:latin typeface="Calibri"/>
                <a:cs typeface="Calibri"/>
              </a:rPr>
              <a:t>preservation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631426" y="2356485"/>
            <a:ext cx="24828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25" dirty="0">
                <a:solidFill>
                  <a:srgbClr val="DFD5DE"/>
                </a:solidFill>
                <a:latin typeface="Calibri"/>
                <a:cs typeface="Calibri"/>
              </a:rPr>
              <a:t>03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631426" y="2806064"/>
            <a:ext cx="1894205" cy="353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dirty="0">
                <a:solidFill>
                  <a:srgbClr val="DFD5DE"/>
                </a:solidFill>
                <a:latin typeface="Calibri"/>
                <a:cs typeface="Calibri"/>
              </a:rPr>
              <a:t>Feature</a:t>
            </a:r>
            <a:r>
              <a:rPr sz="2150" spc="8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DFD5DE"/>
                </a:solidFill>
                <a:latin typeface="Calibri"/>
                <a:cs typeface="Calibri"/>
              </a:rPr>
              <a:t>Analysis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631426" y="3252320"/>
            <a:ext cx="3649345" cy="736600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sz="1700" spc="55" dirty="0">
                <a:solidFill>
                  <a:srgbClr val="DFD5DE"/>
                </a:solidFill>
                <a:latin typeface="Calibri"/>
                <a:cs typeface="Calibri"/>
              </a:rPr>
              <a:t>ML</a:t>
            </a:r>
            <a:r>
              <a:rPr sz="1700" spc="3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DFD5DE"/>
                </a:solidFill>
                <a:latin typeface="Calibri"/>
                <a:cs typeface="Calibri"/>
              </a:rPr>
              <a:t>model</a:t>
            </a:r>
            <a:r>
              <a:rPr sz="1700" spc="-2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DFD5DE"/>
                </a:solidFill>
                <a:latin typeface="Calibri"/>
                <a:cs typeface="Calibri"/>
              </a:rPr>
              <a:t>extracts</a:t>
            </a:r>
            <a:r>
              <a:rPr sz="1700" spc="-3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DFD5DE"/>
                </a:solidFill>
                <a:latin typeface="Calibri"/>
                <a:cs typeface="Calibri"/>
              </a:rPr>
              <a:t>scanner-</a:t>
            </a:r>
            <a:r>
              <a:rPr sz="1700" dirty="0">
                <a:solidFill>
                  <a:srgbClr val="DFD5DE"/>
                </a:solidFill>
                <a:latin typeface="Calibri"/>
                <a:cs typeface="Calibri"/>
              </a:rPr>
              <a:t>specific</a:t>
            </a:r>
            <a:r>
              <a:rPr sz="1700" spc="-4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DFD5DE"/>
                </a:solidFill>
                <a:latin typeface="Calibri"/>
                <a:cs typeface="Calibri"/>
              </a:rPr>
              <a:t>noise</a:t>
            </a:r>
            <a:endParaRPr sz="1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1700" spc="-10" dirty="0">
                <a:solidFill>
                  <a:srgbClr val="DFD5DE"/>
                </a:solidFill>
                <a:latin typeface="Calibri"/>
                <a:cs typeface="Calibri"/>
              </a:rPr>
              <a:t>patterns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59053" y="4439792"/>
            <a:ext cx="24828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25" dirty="0">
                <a:solidFill>
                  <a:srgbClr val="DFD5DE"/>
                </a:solidFill>
                <a:latin typeface="Calibri"/>
                <a:cs typeface="Calibri"/>
              </a:rPr>
              <a:t>04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59053" y="4889753"/>
            <a:ext cx="1206500" cy="353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spc="-10" dirty="0">
                <a:solidFill>
                  <a:srgbClr val="DFD5DE"/>
                </a:solidFill>
                <a:latin typeface="Calibri"/>
                <a:cs typeface="Calibri"/>
              </a:rPr>
              <a:t>Prediction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59053" y="5431916"/>
            <a:ext cx="56800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20" dirty="0">
                <a:solidFill>
                  <a:srgbClr val="DFD5DE"/>
                </a:solidFill>
                <a:latin typeface="Calibri"/>
                <a:cs typeface="Calibri"/>
              </a:rPr>
              <a:t>Trained</a:t>
            </a:r>
            <a:r>
              <a:rPr sz="1700" spc="-7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DFD5DE"/>
                </a:solidFill>
                <a:latin typeface="Calibri"/>
                <a:cs typeface="Calibri"/>
              </a:rPr>
              <a:t>classifier</a:t>
            </a:r>
            <a:r>
              <a:rPr sz="1700" spc="-6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DFD5DE"/>
                </a:solidFill>
                <a:latin typeface="Calibri"/>
                <a:cs typeface="Calibri"/>
              </a:rPr>
              <a:t>identifies</a:t>
            </a:r>
            <a:r>
              <a:rPr sz="1700" spc="-1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DFD5DE"/>
                </a:solidFill>
                <a:latin typeface="Calibri"/>
                <a:cs typeface="Calibri"/>
              </a:rPr>
              <a:t>scanner</a:t>
            </a:r>
            <a:r>
              <a:rPr sz="1700" spc="-3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DFD5DE"/>
                </a:solidFill>
                <a:latin typeface="Calibri"/>
                <a:cs typeface="Calibri"/>
              </a:rPr>
              <a:t>source</a:t>
            </a:r>
            <a:r>
              <a:rPr sz="1700" spc="-5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DFD5DE"/>
                </a:solidFill>
                <a:latin typeface="Calibri"/>
                <a:cs typeface="Calibri"/>
              </a:rPr>
              <a:t>with</a:t>
            </a:r>
            <a:r>
              <a:rPr sz="1700" spc="-4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DFD5DE"/>
                </a:solidFill>
                <a:latin typeface="Calibri"/>
                <a:cs typeface="Calibri"/>
              </a:rPr>
              <a:t>confidence</a:t>
            </a:r>
            <a:r>
              <a:rPr sz="1700" spc="-4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DFD5DE"/>
                </a:solidFill>
                <a:latin typeface="Calibri"/>
                <a:cs typeface="Calibri"/>
              </a:rPr>
              <a:t>score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413497" y="4439792"/>
            <a:ext cx="24828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25" dirty="0">
                <a:solidFill>
                  <a:srgbClr val="DFD5DE"/>
                </a:solidFill>
                <a:latin typeface="Calibri"/>
                <a:cs typeface="Calibri"/>
              </a:rPr>
              <a:t>05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413497" y="4889753"/>
            <a:ext cx="1705610" cy="353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dirty="0">
                <a:solidFill>
                  <a:srgbClr val="DFD5DE"/>
                </a:solidFill>
                <a:latin typeface="Calibri"/>
                <a:cs typeface="Calibri"/>
              </a:rPr>
              <a:t>Result</a:t>
            </a:r>
            <a:r>
              <a:rPr sz="2150" spc="34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2150" spc="70" dirty="0">
                <a:solidFill>
                  <a:srgbClr val="DFD5DE"/>
                </a:solidFill>
                <a:latin typeface="Calibri"/>
                <a:cs typeface="Calibri"/>
              </a:rPr>
              <a:t>Display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413497" y="5431916"/>
            <a:ext cx="488061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DFD5DE"/>
                </a:solidFill>
                <a:latin typeface="Calibri"/>
                <a:cs typeface="Calibri"/>
              </a:rPr>
              <a:t>Web</a:t>
            </a:r>
            <a:r>
              <a:rPr sz="1700" spc="4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DFD5DE"/>
                </a:solidFill>
                <a:latin typeface="Calibri"/>
                <a:cs typeface="Calibri"/>
              </a:rPr>
              <a:t>interface</a:t>
            </a:r>
            <a:r>
              <a:rPr sz="1700" spc="-4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DFD5DE"/>
                </a:solidFill>
                <a:latin typeface="Calibri"/>
                <a:cs typeface="Calibri"/>
              </a:rPr>
              <a:t>presents</a:t>
            </a:r>
            <a:r>
              <a:rPr sz="1700" spc="-5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DFD5DE"/>
                </a:solidFill>
                <a:latin typeface="Calibri"/>
                <a:cs typeface="Calibri"/>
              </a:rPr>
              <a:t>prediction</a:t>
            </a:r>
            <a:r>
              <a:rPr sz="1700" spc="-6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DFD5DE"/>
                </a:solidFill>
                <a:latin typeface="Calibri"/>
                <a:cs typeface="Calibri"/>
              </a:rPr>
              <a:t>and</a:t>
            </a:r>
            <a:r>
              <a:rPr sz="1700" spc="-4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DFD5DE"/>
                </a:solidFill>
                <a:latin typeface="Calibri"/>
                <a:cs typeface="Calibri"/>
              </a:rPr>
              <a:t>confidence</a:t>
            </a:r>
            <a:r>
              <a:rPr sz="1700" spc="-3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DFD5DE"/>
                </a:solidFill>
                <a:latin typeface="Calibri"/>
                <a:cs typeface="Calibri"/>
              </a:rPr>
              <a:t>level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71144" y="6467855"/>
            <a:ext cx="13088619" cy="937260"/>
            <a:chOff x="771144" y="6467855"/>
            <a:chExt cx="13088619" cy="937260"/>
          </a:xfrm>
        </p:grpSpPr>
        <p:sp>
          <p:nvSpPr>
            <p:cNvPr id="19" name="object 19"/>
            <p:cNvSpPr/>
            <p:nvPr/>
          </p:nvSpPr>
          <p:spPr>
            <a:xfrm>
              <a:off x="771144" y="6467855"/>
              <a:ext cx="13088619" cy="937260"/>
            </a:xfrm>
            <a:custGeom>
              <a:avLst/>
              <a:gdLst/>
              <a:ahLst/>
              <a:cxnLst/>
              <a:rect l="l" t="t" r="r" b="b"/>
              <a:pathLst>
                <a:path w="13088619" h="937259">
                  <a:moveTo>
                    <a:pt x="13054965" y="0"/>
                  </a:moveTo>
                  <a:lnTo>
                    <a:pt x="33096" y="0"/>
                  </a:lnTo>
                  <a:lnTo>
                    <a:pt x="20215" y="2607"/>
                  </a:lnTo>
                  <a:lnTo>
                    <a:pt x="9694" y="9715"/>
                  </a:lnTo>
                  <a:lnTo>
                    <a:pt x="2601" y="20252"/>
                  </a:lnTo>
                  <a:lnTo>
                    <a:pt x="0" y="33147"/>
                  </a:lnTo>
                  <a:lnTo>
                    <a:pt x="0" y="904163"/>
                  </a:lnTo>
                  <a:lnTo>
                    <a:pt x="2601" y="917044"/>
                  </a:lnTo>
                  <a:lnTo>
                    <a:pt x="9694" y="927565"/>
                  </a:lnTo>
                  <a:lnTo>
                    <a:pt x="20215" y="934658"/>
                  </a:lnTo>
                  <a:lnTo>
                    <a:pt x="33096" y="937260"/>
                  </a:lnTo>
                  <a:lnTo>
                    <a:pt x="13054965" y="937260"/>
                  </a:lnTo>
                  <a:lnTo>
                    <a:pt x="13067859" y="934658"/>
                  </a:lnTo>
                  <a:lnTo>
                    <a:pt x="13078396" y="927565"/>
                  </a:lnTo>
                  <a:lnTo>
                    <a:pt x="13085504" y="917044"/>
                  </a:lnTo>
                  <a:lnTo>
                    <a:pt x="13088112" y="904163"/>
                  </a:lnTo>
                  <a:lnTo>
                    <a:pt x="13088112" y="33147"/>
                  </a:lnTo>
                  <a:lnTo>
                    <a:pt x="13085504" y="20252"/>
                  </a:lnTo>
                  <a:lnTo>
                    <a:pt x="13078396" y="9715"/>
                  </a:lnTo>
                  <a:lnTo>
                    <a:pt x="13067859" y="2607"/>
                  </a:lnTo>
                  <a:lnTo>
                    <a:pt x="13054965" y="0"/>
                  </a:lnTo>
                  <a:close/>
                </a:path>
              </a:pathLst>
            </a:custGeom>
            <a:solidFill>
              <a:srgbClr val="0017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2124" y="6824471"/>
              <a:ext cx="275844" cy="220979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1475358" y="6826402"/>
            <a:ext cx="103187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7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components</a:t>
            </a:r>
            <a:r>
              <a:rPr sz="17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17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Calibri"/>
                <a:cs typeface="Calibri"/>
              </a:rPr>
              <a:t>integrated</a:t>
            </a:r>
            <a:r>
              <a:rPr sz="17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sz="17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7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unified</a:t>
            </a:r>
            <a:r>
              <a:rPr sz="17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Python-based</a:t>
            </a:r>
            <a:r>
              <a:rPr sz="17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sz="17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17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seamless</a:t>
            </a:r>
            <a:r>
              <a:rPr sz="17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7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flow</a:t>
            </a:r>
            <a:r>
              <a:rPr sz="17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17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upload</a:t>
            </a:r>
            <a:r>
              <a:rPr sz="17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7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Calibri"/>
                <a:cs typeface="Calibri"/>
              </a:rPr>
              <a:t>prediction.</a:t>
            </a:r>
            <a:endParaRPr sz="1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1304" y="991565"/>
            <a:ext cx="5799455" cy="704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spc="-60" dirty="0">
                <a:latin typeface="Calibri Light"/>
                <a:cs typeface="Calibri Light"/>
              </a:rPr>
              <a:t>Web</a:t>
            </a:r>
            <a:r>
              <a:rPr b="0" spc="-165" dirty="0">
                <a:latin typeface="Calibri Light"/>
                <a:cs typeface="Calibri Light"/>
              </a:rPr>
              <a:t> </a:t>
            </a:r>
            <a:r>
              <a:rPr b="0" spc="-35" dirty="0">
                <a:latin typeface="Calibri Light"/>
                <a:cs typeface="Calibri Light"/>
              </a:rPr>
              <a:t>Application</a:t>
            </a:r>
            <a:r>
              <a:rPr b="0" spc="-170" dirty="0">
                <a:latin typeface="Calibri Light"/>
                <a:cs typeface="Calibri Light"/>
              </a:rPr>
              <a:t> </a:t>
            </a:r>
            <a:r>
              <a:rPr b="0" spc="-40" dirty="0">
                <a:latin typeface="Calibri Light"/>
                <a:cs typeface="Calibri Light"/>
              </a:rPr>
              <a:t>Interface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4004" y="2199132"/>
            <a:ext cx="4158996" cy="256946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81304" y="4972050"/>
            <a:ext cx="1983739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DFD5DE"/>
                </a:solidFill>
                <a:latin typeface="Calibri"/>
                <a:cs typeface="Calibri"/>
              </a:rPr>
              <a:t>Intuitive</a:t>
            </a:r>
            <a:r>
              <a:rPr sz="2200" spc="22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2200" spc="100" dirty="0">
                <a:solidFill>
                  <a:srgbClr val="DFD5DE"/>
                </a:solidFill>
                <a:latin typeface="Calibri"/>
                <a:cs typeface="Calibri"/>
              </a:rPr>
              <a:t>Uplo</a:t>
            </a:r>
            <a:r>
              <a:rPr sz="2200" spc="-21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DFD5DE"/>
                </a:solidFill>
                <a:latin typeface="Calibri"/>
                <a:cs typeface="Calibri"/>
              </a:rPr>
              <a:t>ad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1304" y="5425744"/>
            <a:ext cx="3750945" cy="763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8400"/>
              </a:lnSpc>
              <a:spcBef>
                <a:spcPts val="100"/>
              </a:spcBef>
            </a:pPr>
            <a:r>
              <a:rPr sz="1750" dirty="0">
                <a:solidFill>
                  <a:srgbClr val="DFD5DE"/>
                </a:solidFill>
                <a:latin typeface="Calibri"/>
                <a:cs typeface="Calibri"/>
              </a:rPr>
              <a:t>Drag-and-drop</a:t>
            </a:r>
            <a:r>
              <a:rPr sz="1750" spc="8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DFD5DE"/>
                </a:solidFill>
                <a:latin typeface="Calibri"/>
                <a:cs typeface="Calibri"/>
              </a:rPr>
              <a:t>functionality</a:t>
            </a:r>
            <a:r>
              <a:rPr sz="1750" spc="-1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DFD5DE"/>
                </a:solidFill>
                <a:latin typeface="Calibri"/>
                <a:cs typeface="Calibri"/>
              </a:rPr>
              <a:t>for</a:t>
            </a:r>
            <a:r>
              <a:rPr sz="1750" spc="2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DFD5DE"/>
                </a:solidFill>
                <a:latin typeface="Calibri"/>
                <a:cs typeface="Calibri"/>
              </a:rPr>
              <a:t>seamless </a:t>
            </a:r>
            <a:r>
              <a:rPr sz="1750" dirty="0">
                <a:solidFill>
                  <a:srgbClr val="DFD5DE"/>
                </a:solidFill>
                <a:latin typeface="Calibri"/>
                <a:cs typeface="Calibri"/>
              </a:rPr>
              <a:t>image</a:t>
            </a:r>
            <a:r>
              <a:rPr sz="1750" spc="-1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DFD5DE"/>
                </a:solidFill>
                <a:latin typeface="Calibri"/>
                <a:cs typeface="Calibri"/>
              </a:rPr>
              <a:t>submission</a:t>
            </a:r>
            <a:endParaRPr sz="175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36464" y="2199132"/>
            <a:ext cx="4157472" cy="256946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223764" y="4972050"/>
            <a:ext cx="194754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DFD5DE"/>
                </a:solidFill>
                <a:latin typeface="Calibri"/>
                <a:cs typeface="Calibri"/>
              </a:rPr>
              <a:t>Preview</a:t>
            </a:r>
            <a:r>
              <a:rPr sz="2200" spc="32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2200" spc="70" dirty="0">
                <a:solidFill>
                  <a:srgbClr val="DFD5DE"/>
                </a:solidFill>
                <a:latin typeface="Calibri"/>
                <a:cs typeface="Calibri"/>
              </a:rPr>
              <a:t>Display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23764" y="5527928"/>
            <a:ext cx="417449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10" dirty="0">
                <a:solidFill>
                  <a:srgbClr val="DFD5DE"/>
                </a:solidFill>
                <a:latin typeface="Calibri"/>
                <a:cs typeface="Calibri"/>
              </a:rPr>
              <a:t>Real-</a:t>
            </a:r>
            <a:r>
              <a:rPr sz="1750" dirty="0">
                <a:solidFill>
                  <a:srgbClr val="DFD5DE"/>
                </a:solidFill>
                <a:latin typeface="Calibri"/>
                <a:cs typeface="Calibri"/>
              </a:rPr>
              <a:t>time</a:t>
            </a:r>
            <a:r>
              <a:rPr sz="1750" spc="-3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DFD5DE"/>
                </a:solidFill>
                <a:latin typeface="Calibri"/>
                <a:cs typeface="Calibri"/>
              </a:rPr>
              <a:t>visualization</a:t>
            </a:r>
            <a:r>
              <a:rPr sz="1750" spc="-3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DFD5DE"/>
                </a:solidFill>
                <a:latin typeface="Calibri"/>
                <a:cs typeface="Calibri"/>
              </a:rPr>
              <a:t>of</a:t>
            </a:r>
            <a:r>
              <a:rPr sz="1750" spc="-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DFD5DE"/>
                </a:solidFill>
                <a:latin typeface="Calibri"/>
                <a:cs typeface="Calibri"/>
              </a:rPr>
              <a:t>uploaded</a:t>
            </a:r>
            <a:r>
              <a:rPr sz="1750" spc="-1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DFD5DE"/>
                </a:solidFill>
                <a:latin typeface="Calibri"/>
                <a:cs typeface="Calibri"/>
              </a:rPr>
              <a:t>document</a:t>
            </a:r>
            <a:endParaRPr sz="175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677400" y="2199132"/>
            <a:ext cx="4158996" cy="256946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9666223" y="4972050"/>
            <a:ext cx="23653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DFD5DE"/>
                </a:solidFill>
                <a:latin typeface="Calibri"/>
                <a:cs typeface="Calibri"/>
              </a:rPr>
              <a:t>Result</a:t>
            </a:r>
            <a:r>
              <a:rPr sz="2200" spc="35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DFD5DE"/>
                </a:solidFill>
                <a:latin typeface="Calibri"/>
                <a:cs typeface="Calibri"/>
              </a:rPr>
              <a:t>Presentation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666223" y="5425744"/>
            <a:ext cx="3208020" cy="763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8400"/>
              </a:lnSpc>
              <a:spcBef>
                <a:spcPts val="100"/>
              </a:spcBef>
            </a:pPr>
            <a:r>
              <a:rPr sz="1750" dirty="0">
                <a:solidFill>
                  <a:srgbClr val="DFD5DE"/>
                </a:solidFill>
                <a:latin typeface="Calibri"/>
                <a:cs typeface="Calibri"/>
              </a:rPr>
              <a:t>Clear</a:t>
            </a:r>
            <a:r>
              <a:rPr sz="1750" spc="-1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DFD5DE"/>
                </a:solidFill>
                <a:latin typeface="Calibri"/>
                <a:cs typeface="Calibri"/>
              </a:rPr>
              <a:t>display</a:t>
            </a:r>
            <a:r>
              <a:rPr sz="1750" spc="-3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DFD5DE"/>
                </a:solidFill>
                <a:latin typeface="Calibri"/>
                <a:cs typeface="Calibri"/>
              </a:rPr>
              <a:t>of</a:t>
            </a:r>
            <a:r>
              <a:rPr sz="1750" spc="-1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DFD5DE"/>
                </a:solidFill>
                <a:latin typeface="Calibri"/>
                <a:cs typeface="Calibri"/>
              </a:rPr>
              <a:t>scanner</a:t>
            </a:r>
            <a:r>
              <a:rPr sz="1750" spc="-1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DFD5DE"/>
                </a:solidFill>
                <a:latin typeface="Calibri"/>
                <a:cs typeface="Calibri"/>
              </a:rPr>
              <a:t>source</a:t>
            </a:r>
            <a:r>
              <a:rPr sz="1750" spc="-1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50" spc="-25" dirty="0">
                <a:solidFill>
                  <a:srgbClr val="DFD5DE"/>
                </a:solidFill>
                <a:latin typeface="Calibri"/>
                <a:cs typeface="Calibri"/>
              </a:rPr>
              <a:t>and </a:t>
            </a:r>
            <a:r>
              <a:rPr sz="1750" dirty="0">
                <a:solidFill>
                  <a:srgbClr val="DFD5DE"/>
                </a:solidFill>
                <a:latin typeface="Calibri"/>
                <a:cs typeface="Calibri"/>
              </a:rPr>
              <a:t>confidence</a:t>
            </a:r>
            <a:r>
              <a:rPr sz="1750" spc="-3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DFD5DE"/>
                </a:solidFill>
                <a:latin typeface="Calibri"/>
                <a:cs typeface="Calibri"/>
              </a:rPr>
              <a:t>percentage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81304" y="6407048"/>
            <a:ext cx="12166600" cy="763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8400"/>
              </a:lnSpc>
              <a:spcBef>
                <a:spcPts val="100"/>
              </a:spcBef>
            </a:pPr>
            <a:r>
              <a:rPr sz="1750" dirty="0">
                <a:solidFill>
                  <a:srgbClr val="DFD5DE"/>
                </a:solidFill>
                <a:latin typeface="Calibri"/>
                <a:cs typeface="Calibri"/>
              </a:rPr>
              <a:t>The</a:t>
            </a:r>
            <a:r>
              <a:rPr sz="1750" spc="-1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DFD5DE"/>
                </a:solidFill>
                <a:latin typeface="Calibri"/>
                <a:cs typeface="Calibri"/>
              </a:rPr>
              <a:t>lightweight</a:t>
            </a:r>
            <a:r>
              <a:rPr sz="1750" spc="-5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DFD5DE"/>
                </a:solidFill>
                <a:latin typeface="Calibri"/>
                <a:cs typeface="Calibri"/>
              </a:rPr>
              <a:t>web</a:t>
            </a:r>
            <a:r>
              <a:rPr sz="1750" spc="-1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DFD5DE"/>
                </a:solidFill>
                <a:latin typeface="Calibri"/>
                <a:cs typeface="Calibri"/>
              </a:rPr>
              <a:t>application</a:t>
            </a:r>
            <a:r>
              <a:rPr sz="1750" spc="-4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DFD5DE"/>
                </a:solidFill>
                <a:latin typeface="Calibri"/>
                <a:cs typeface="Calibri"/>
              </a:rPr>
              <a:t>features</a:t>
            </a:r>
            <a:r>
              <a:rPr sz="1750" spc="-2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DFD5DE"/>
                </a:solidFill>
                <a:latin typeface="Calibri"/>
                <a:cs typeface="Calibri"/>
              </a:rPr>
              <a:t>a</a:t>
            </a:r>
            <a:r>
              <a:rPr sz="1750" spc="-1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DFD5DE"/>
                </a:solidFill>
                <a:latin typeface="Calibri"/>
                <a:cs typeface="Calibri"/>
              </a:rPr>
              <a:t>clean,</a:t>
            </a:r>
            <a:r>
              <a:rPr sz="1750" spc="-6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DFD5DE"/>
                </a:solidFill>
                <a:latin typeface="Calibri"/>
                <a:cs typeface="Calibri"/>
              </a:rPr>
              <a:t>dark-themed</a:t>
            </a:r>
            <a:r>
              <a:rPr sz="1750" spc="4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DFD5DE"/>
                </a:solidFill>
                <a:latin typeface="Calibri"/>
                <a:cs typeface="Calibri"/>
              </a:rPr>
              <a:t>interface</a:t>
            </a:r>
            <a:r>
              <a:rPr sz="1750" spc="-2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DFD5DE"/>
                </a:solidFill>
                <a:latin typeface="Calibri"/>
                <a:cs typeface="Calibri"/>
              </a:rPr>
              <a:t>designed</a:t>
            </a:r>
            <a:r>
              <a:rPr sz="1750" spc="-2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DFD5DE"/>
                </a:solidFill>
                <a:latin typeface="Calibri"/>
                <a:cs typeface="Calibri"/>
              </a:rPr>
              <a:t>for</a:t>
            </a:r>
            <a:r>
              <a:rPr sz="1750" spc="-2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DFD5DE"/>
                </a:solidFill>
                <a:latin typeface="Calibri"/>
                <a:cs typeface="Calibri"/>
              </a:rPr>
              <a:t>demonstrating</a:t>
            </a:r>
            <a:r>
              <a:rPr sz="1750" spc="-3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DFD5DE"/>
                </a:solidFill>
                <a:latin typeface="Calibri"/>
                <a:cs typeface="Calibri"/>
              </a:rPr>
              <a:t>real-time</a:t>
            </a:r>
            <a:r>
              <a:rPr sz="1750" spc="-3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DFD5DE"/>
                </a:solidFill>
                <a:latin typeface="Calibri"/>
                <a:cs typeface="Calibri"/>
              </a:rPr>
              <a:t>scanner</a:t>
            </a:r>
            <a:r>
              <a:rPr sz="1750" spc="-1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DFD5DE"/>
                </a:solidFill>
                <a:latin typeface="Calibri"/>
                <a:cs typeface="Calibri"/>
              </a:rPr>
              <a:t>prediction</a:t>
            </a:r>
            <a:r>
              <a:rPr sz="1750" spc="-1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DFD5DE"/>
                </a:solidFill>
                <a:latin typeface="Calibri"/>
                <a:cs typeface="Calibri"/>
              </a:rPr>
              <a:t>with </a:t>
            </a:r>
            <a:r>
              <a:rPr sz="1750" dirty="0">
                <a:solidFill>
                  <a:srgbClr val="DFD5DE"/>
                </a:solidFill>
                <a:latin typeface="Calibri"/>
                <a:cs typeface="Calibri"/>
              </a:rPr>
              <a:t>professional</a:t>
            </a:r>
            <a:r>
              <a:rPr sz="1750" spc="-4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DFD5DE"/>
                </a:solidFill>
                <a:latin typeface="Calibri"/>
                <a:cs typeface="Calibri"/>
              </a:rPr>
              <a:t>aesthetics</a:t>
            </a:r>
            <a:r>
              <a:rPr sz="1750" spc="-3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DFD5DE"/>
                </a:solidFill>
                <a:latin typeface="Calibri"/>
                <a:cs typeface="Calibri"/>
              </a:rPr>
              <a:t>and</a:t>
            </a:r>
            <a:r>
              <a:rPr sz="1750" spc="-1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DFD5DE"/>
                </a:solidFill>
                <a:latin typeface="Calibri"/>
                <a:cs typeface="Calibri"/>
              </a:rPr>
              <a:t>user-friendly</a:t>
            </a:r>
            <a:r>
              <a:rPr sz="1750" spc="-4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DFD5DE"/>
                </a:solidFill>
                <a:latin typeface="Calibri"/>
                <a:cs typeface="Calibri"/>
              </a:rPr>
              <a:t>navigation.</a:t>
            </a:r>
            <a:endParaRPr sz="17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5238" y="402463"/>
            <a:ext cx="4803775" cy="497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772920" algn="l"/>
              </a:tabLst>
            </a:pPr>
            <a:r>
              <a:rPr sz="3100" spc="60" dirty="0"/>
              <a:t>Results</a:t>
            </a:r>
            <a:r>
              <a:rPr sz="3100" spc="265" dirty="0"/>
              <a:t> </a:t>
            </a:r>
            <a:r>
              <a:rPr sz="3100" spc="-50" dirty="0"/>
              <a:t>&amp;</a:t>
            </a:r>
            <a:r>
              <a:rPr sz="3100" dirty="0"/>
              <a:t>	Key</a:t>
            </a:r>
            <a:r>
              <a:rPr sz="3100" spc="345" dirty="0"/>
              <a:t> </a:t>
            </a:r>
            <a:r>
              <a:rPr sz="3100" spc="-30" dirty="0"/>
              <a:t>O</a:t>
            </a:r>
            <a:r>
              <a:rPr sz="3100" spc="-254" dirty="0"/>
              <a:t> </a:t>
            </a:r>
            <a:r>
              <a:rPr sz="3100" spc="65" dirty="0"/>
              <a:t>bservatio</a:t>
            </a:r>
            <a:r>
              <a:rPr sz="3100" spc="-375" dirty="0"/>
              <a:t> </a:t>
            </a:r>
            <a:r>
              <a:rPr sz="3100" spc="-25" dirty="0"/>
              <a:t>ns</a:t>
            </a:r>
            <a:endParaRPr sz="3100"/>
          </a:p>
        </p:txBody>
      </p:sp>
      <p:sp>
        <p:nvSpPr>
          <p:cNvPr id="3" name="object 3"/>
          <p:cNvSpPr txBox="1"/>
          <p:nvPr/>
        </p:nvSpPr>
        <p:spPr>
          <a:xfrm>
            <a:off x="3493770" y="2170252"/>
            <a:ext cx="756920" cy="497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100" spc="90" dirty="0">
                <a:solidFill>
                  <a:srgbClr val="DFD5DE"/>
                </a:solidFill>
                <a:latin typeface="Calibri"/>
                <a:cs typeface="Calibri"/>
              </a:rPr>
              <a:t>92%</a:t>
            </a:r>
            <a:endParaRPr sz="31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14244" y="1289303"/>
            <a:ext cx="2378963" cy="237896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074923" y="3848861"/>
            <a:ext cx="1649095" cy="2616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50" dirty="0">
                <a:solidFill>
                  <a:srgbClr val="DFD5DE"/>
                </a:solidFill>
                <a:latin typeface="Calibri"/>
                <a:cs typeface="Calibri"/>
              </a:rPr>
              <a:t>Prediction</a:t>
            </a:r>
            <a:r>
              <a:rPr sz="1550" spc="204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DFD5DE"/>
                </a:solidFill>
                <a:latin typeface="Calibri"/>
                <a:cs typeface="Calibri"/>
              </a:rPr>
              <a:t>Accuracy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60422" y="4236211"/>
            <a:ext cx="3086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DFD5DE"/>
                </a:solidFill>
                <a:latin typeface="Calibri"/>
                <a:cs typeface="Calibri"/>
              </a:rPr>
              <a:t>Average</a:t>
            </a:r>
            <a:r>
              <a:rPr sz="1200" spc="-3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DFD5DE"/>
                </a:solidFill>
                <a:latin typeface="Calibri"/>
                <a:cs typeface="Calibri"/>
              </a:rPr>
              <a:t>classification</a:t>
            </a:r>
            <a:r>
              <a:rPr sz="1200" spc="-2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DFD5DE"/>
                </a:solidFill>
                <a:latin typeface="Calibri"/>
                <a:cs typeface="Calibri"/>
              </a:rPr>
              <a:t>accuracy</a:t>
            </a:r>
            <a:r>
              <a:rPr sz="1200" spc="-2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DFD5DE"/>
                </a:solidFill>
                <a:latin typeface="Calibri"/>
                <a:cs typeface="Calibri"/>
              </a:rPr>
              <a:t>across</a:t>
            </a:r>
            <a:r>
              <a:rPr sz="1200" spc="-1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DFD5DE"/>
                </a:solidFill>
                <a:latin typeface="Calibri"/>
                <a:cs typeface="Calibri"/>
              </a:rPr>
              <a:t>test</a:t>
            </a:r>
            <a:r>
              <a:rPr sz="1200" spc="-3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DFD5DE"/>
                </a:solidFill>
                <a:latin typeface="Calibri"/>
                <a:cs typeface="Calibri"/>
              </a:rPr>
              <a:t>images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32421" y="2170252"/>
            <a:ext cx="707390" cy="497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100" spc="-25" dirty="0">
                <a:solidFill>
                  <a:srgbClr val="DFD5DE"/>
                </a:solidFill>
                <a:latin typeface="Calibri"/>
                <a:cs typeface="Calibri"/>
              </a:rPr>
              <a:t>87%</a:t>
            </a:r>
            <a:endParaRPr sz="31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24955" y="1289303"/>
            <a:ext cx="2380488" cy="237896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472554" y="3848861"/>
            <a:ext cx="1676400" cy="2616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50" dirty="0">
                <a:solidFill>
                  <a:srgbClr val="DFD5DE"/>
                </a:solidFill>
                <a:latin typeface="Calibri"/>
                <a:cs typeface="Calibri"/>
              </a:rPr>
              <a:t>Pattern</a:t>
            </a:r>
            <a:r>
              <a:rPr sz="1550" spc="7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DFD5DE"/>
                </a:solidFill>
                <a:latin typeface="Calibri"/>
                <a:cs typeface="Calibri"/>
              </a:rPr>
              <a:t>Consistency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95594" y="4164583"/>
            <a:ext cx="2839720" cy="534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1245" marR="5080" indent="-1059180">
              <a:lnSpc>
                <a:spcPct val="139200"/>
              </a:lnSpc>
              <a:spcBef>
                <a:spcPts val="100"/>
              </a:spcBef>
            </a:pPr>
            <a:r>
              <a:rPr sz="1200" dirty="0">
                <a:solidFill>
                  <a:srgbClr val="DFD5DE"/>
                </a:solidFill>
                <a:latin typeface="Calibri"/>
                <a:cs typeface="Calibri"/>
              </a:rPr>
              <a:t>Reliability</a:t>
            </a:r>
            <a:r>
              <a:rPr sz="1200" spc="-3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DFD5DE"/>
                </a:solidFill>
                <a:latin typeface="Calibri"/>
                <a:cs typeface="Calibri"/>
              </a:rPr>
              <a:t>of</a:t>
            </a:r>
            <a:r>
              <a:rPr sz="1200" spc="-1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DFD5DE"/>
                </a:solidFill>
                <a:latin typeface="Calibri"/>
                <a:cs typeface="Calibri"/>
              </a:rPr>
              <a:t>predictions</a:t>
            </a:r>
            <a:r>
              <a:rPr sz="1200" spc="-4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DFD5DE"/>
                </a:solidFill>
                <a:latin typeface="Calibri"/>
                <a:cs typeface="Calibri"/>
              </a:rPr>
              <a:t>across</a:t>
            </a:r>
            <a:r>
              <a:rPr sz="1200" spc="2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DFD5DE"/>
                </a:solidFill>
                <a:latin typeface="Calibri"/>
                <a:cs typeface="Calibri"/>
              </a:rPr>
              <a:t>same-scanner documents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330433" y="2170252"/>
            <a:ext cx="728345" cy="497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100" spc="-25" dirty="0">
                <a:solidFill>
                  <a:srgbClr val="DFD5DE"/>
                </a:solidFill>
                <a:latin typeface="Calibri"/>
                <a:cs typeface="Calibri"/>
              </a:rPr>
              <a:t>95%</a:t>
            </a:r>
            <a:endParaRPr sz="310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37192" y="1289303"/>
            <a:ext cx="2378963" cy="237896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9991470" y="3848861"/>
            <a:ext cx="1469390" cy="2616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50" dirty="0">
                <a:solidFill>
                  <a:srgbClr val="DFD5DE"/>
                </a:solidFill>
                <a:latin typeface="Calibri"/>
                <a:cs typeface="Calibri"/>
              </a:rPr>
              <a:t>Confidence</a:t>
            </a:r>
            <a:r>
              <a:rPr sz="1550" spc="10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50" spc="-20" dirty="0">
                <a:solidFill>
                  <a:srgbClr val="DFD5DE"/>
                </a:solidFill>
                <a:latin typeface="Calibri"/>
                <a:cs typeface="Calibri"/>
              </a:rPr>
              <a:t>Score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238233" y="4236211"/>
            <a:ext cx="29775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DFD5DE"/>
                </a:solidFill>
                <a:latin typeface="Calibri"/>
                <a:cs typeface="Calibri"/>
              </a:rPr>
              <a:t>Average</a:t>
            </a:r>
            <a:r>
              <a:rPr sz="1200" spc="-3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DFD5DE"/>
                </a:solidFill>
                <a:latin typeface="Calibri"/>
                <a:cs typeface="Calibri"/>
              </a:rPr>
              <a:t>confidence</a:t>
            </a:r>
            <a:r>
              <a:rPr sz="1200" spc="-3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DFD5DE"/>
                </a:solidFill>
                <a:latin typeface="Calibri"/>
                <a:cs typeface="Calibri"/>
              </a:rPr>
              <a:t>level</a:t>
            </a:r>
            <a:r>
              <a:rPr sz="1200" spc="-3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DFD5DE"/>
                </a:solidFill>
                <a:latin typeface="Calibri"/>
                <a:cs typeface="Calibri"/>
              </a:rPr>
              <a:t>for</a:t>
            </a:r>
            <a:r>
              <a:rPr sz="1200" spc="-3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DFD5DE"/>
                </a:solidFill>
                <a:latin typeface="Calibri"/>
                <a:cs typeface="Calibri"/>
              </a:rPr>
              <a:t>correct</a:t>
            </a:r>
            <a:r>
              <a:rPr sz="1200" spc="-2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DFD5DE"/>
                </a:solidFill>
                <a:latin typeface="Calibri"/>
                <a:cs typeface="Calibri"/>
              </a:rPr>
              <a:t>predictions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298192" y="4975859"/>
            <a:ext cx="10034270" cy="27940"/>
          </a:xfrm>
          <a:custGeom>
            <a:avLst/>
            <a:gdLst/>
            <a:ahLst/>
            <a:cxnLst/>
            <a:rect l="l" t="t" r="r" b="b"/>
            <a:pathLst>
              <a:path w="10034270" h="27939">
                <a:moveTo>
                  <a:pt x="10034016" y="0"/>
                </a:moveTo>
                <a:lnTo>
                  <a:pt x="0" y="0"/>
                </a:lnTo>
                <a:lnTo>
                  <a:pt x="0" y="27431"/>
                </a:lnTo>
                <a:lnTo>
                  <a:pt x="10034016" y="27431"/>
                </a:lnTo>
                <a:lnTo>
                  <a:pt x="10034016" y="0"/>
                </a:lnTo>
                <a:close/>
              </a:path>
            </a:pathLst>
          </a:custGeom>
          <a:solidFill>
            <a:srgbClr val="DFD5DE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285238" y="5213730"/>
            <a:ext cx="1570990" cy="307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dirty="0">
                <a:solidFill>
                  <a:srgbClr val="96B8FF"/>
                </a:solidFill>
                <a:latin typeface="Calibri"/>
                <a:cs typeface="Calibri"/>
              </a:rPr>
              <a:t>Critical</a:t>
            </a:r>
            <a:r>
              <a:rPr sz="1850" spc="85" dirty="0">
                <a:solidFill>
                  <a:srgbClr val="96B8FF"/>
                </a:solidFill>
                <a:latin typeface="Calibri"/>
                <a:cs typeface="Calibri"/>
              </a:rPr>
              <a:t> </a:t>
            </a:r>
            <a:r>
              <a:rPr sz="1850" spc="-20" dirty="0">
                <a:solidFill>
                  <a:srgbClr val="96B8FF"/>
                </a:solidFill>
                <a:latin typeface="Calibri"/>
                <a:cs typeface="Calibri"/>
              </a:rPr>
              <a:t>Finding</a:t>
            </a:r>
            <a:r>
              <a:rPr sz="1850" spc="-165" dirty="0">
                <a:solidFill>
                  <a:srgbClr val="96B8FF"/>
                </a:solidFill>
                <a:latin typeface="Calibri"/>
                <a:cs typeface="Calibri"/>
              </a:rPr>
              <a:t> </a:t>
            </a:r>
            <a:r>
              <a:rPr sz="1850" spc="-50" dirty="0">
                <a:solidFill>
                  <a:srgbClr val="96B8FF"/>
                </a:solidFill>
                <a:latin typeface="Calibri"/>
                <a:cs typeface="Calibri"/>
              </a:rPr>
              <a:t>s</a:t>
            </a:r>
            <a:endParaRPr sz="1850">
              <a:latin typeface="Calibri"/>
              <a:cs typeface="Calibri"/>
            </a:endParaRPr>
          </a:p>
        </p:txBody>
      </p:sp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98192" y="5859779"/>
            <a:ext cx="79248" cy="79248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2522982" y="5758433"/>
            <a:ext cx="1737360" cy="2616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50" dirty="0">
                <a:solidFill>
                  <a:srgbClr val="DFD5DE"/>
                </a:solidFill>
                <a:latin typeface="Calibri"/>
                <a:cs typeface="Calibri"/>
              </a:rPr>
              <a:t>Scanner</a:t>
            </a:r>
            <a:r>
              <a:rPr sz="1550" spc="7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DFD5DE"/>
                </a:solidFill>
                <a:latin typeface="Calibri"/>
                <a:cs typeface="Calibri"/>
              </a:rPr>
              <a:t>Fing</a:t>
            </a:r>
            <a:r>
              <a:rPr sz="1550" spc="-17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DFD5DE"/>
                </a:solidFill>
                <a:latin typeface="Calibri"/>
                <a:cs typeface="Calibri"/>
              </a:rPr>
              <a:t>erprints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522982" y="6073260"/>
            <a:ext cx="4345940" cy="53594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1200" dirty="0">
                <a:solidFill>
                  <a:srgbClr val="DFD5DE"/>
                </a:solidFill>
                <a:latin typeface="Calibri"/>
                <a:cs typeface="Calibri"/>
              </a:rPr>
              <a:t>Scanner-specific</a:t>
            </a:r>
            <a:r>
              <a:rPr sz="1200" spc="1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DFD5DE"/>
                </a:solidFill>
                <a:latin typeface="Calibri"/>
                <a:cs typeface="Calibri"/>
              </a:rPr>
              <a:t>patterns</a:t>
            </a:r>
            <a:r>
              <a:rPr sz="1200" spc="-3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DFD5DE"/>
                </a:solidFill>
                <a:latin typeface="Calibri"/>
                <a:cs typeface="Calibri"/>
              </a:rPr>
              <a:t>are successfully</a:t>
            </a:r>
            <a:r>
              <a:rPr sz="1200" spc="-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DFD5DE"/>
                </a:solidFill>
                <a:latin typeface="Calibri"/>
                <a:cs typeface="Calibri"/>
              </a:rPr>
              <a:t>identified</a:t>
            </a:r>
            <a:r>
              <a:rPr sz="1200" spc="-4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DFD5DE"/>
                </a:solidFill>
                <a:latin typeface="Calibri"/>
                <a:cs typeface="Calibri"/>
              </a:rPr>
              <a:t>and</a:t>
            </a:r>
            <a:r>
              <a:rPr sz="1200" spc="-1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DFD5DE"/>
                </a:solidFill>
                <a:latin typeface="Calibri"/>
                <a:cs typeface="Calibri"/>
              </a:rPr>
              <a:t>distinguished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1200" dirty="0">
                <a:solidFill>
                  <a:srgbClr val="DFD5DE"/>
                </a:solidFill>
                <a:latin typeface="Calibri"/>
                <a:cs typeface="Calibri"/>
              </a:rPr>
              <a:t>across</a:t>
            </a:r>
            <a:r>
              <a:rPr sz="1200" spc="1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DFD5DE"/>
                </a:solidFill>
                <a:latin typeface="Calibri"/>
                <a:cs typeface="Calibri"/>
              </a:rPr>
              <a:t>multiple</a:t>
            </a:r>
            <a:r>
              <a:rPr sz="1200" spc="-4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DFD5DE"/>
                </a:solidFill>
                <a:latin typeface="Calibri"/>
                <a:cs typeface="Calibri"/>
              </a:rPr>
              <a:t>device</a:t>
            </a:r>
            <a:r>
              <a:rPr sz="1200" spc="-1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DFD5DE"/>
                </a:solidFill>
                <a:latin typeface="Calibri"/>
                <a:cs typeface="Calibri"/>
              </a:rPr>
              <a:t>types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20" name="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14259" y="5859779"/>
            <a:ext cx="79246" cy="79248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7640193" y="5758433"/>
            <a:ext cx="2625090" cy="2616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50" dirty="0">
                <a:solidFill>
                  <a:srgbClr val="DFD5DE"/>
                </a:solidFill>
                <a:latin typeface="Calibri"/>
                <a:cs typeface="Calibri"/>
              </a:rPr>
              <a:t>Backg round</a:t>
            </a:r>
            <a:r>
              <a:rPr sz="1550" spc="229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DFD5DE"/>
                </a:solidFill>
                <a:latin typeface="Calibri"/>
                <a:cs typeface="Calibri"/>
              </a:rPr>
              <a:t>Noise</a:t>
            </a:r>
            <a:r>
              <a:rPr sz="1550" spc="24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DFD5DE"/>
                </a:solidFill>
                <a:latin typeface="Calibri"/>
                <a:cs typeface="Calibri"/>
              </a:rPr>
              <a:t>Importance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640193" y="6073260"/>
            <a:ext cx="4578985" cy="53594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1200" dirty="0">
                <a:solidFill>
                  <a:srgbClr val="DFD5DE"/>
                </a:solidFill>
                <a:latin typeface="Calibri"/>
                <a:cs typeface="Calibri"/>
              </a:rPr>
              <a:t>Background</a:t>
            </a:r>
            <a:r>
              <a:rPr sz="1200" spc="1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DFD5DE"/>
                </a:solidFill>
                <a:latin typeface="Calibri"/>
                <a:cs typeface="Calibri"/>
              </a:rPr>
              <a:t>texture</a:t>
            </a:r>
            <a:r>
              <a:rPr sz="1200" spc="-3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DFD5DE"/>
                </a:solidFill>
                <a:latin typeface="Calibri"/>
                <a:cs typeface="Calibri"/>
              </a:rPr>
              <a:t>and</a:t>
            </a:r>
            <a:r>
              <a:rPr sz="1200" spc="-2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DFD5DE"/>
                </a:solidFill>
                <a:latin typeface="Calibri"/>
                <a:cs typeface="Calibri"/>
              </a:rPr>
              <a:t>noise</a:t>
            </a:r>
            <a:r>
              <a:rPr sz="1200" spc="-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DFD5DE"/>
                </a:solidFill>
                <a:latin typeface="Calibri"/>
                <a:cs typeface="Calibri"/>
              </a:rPr>
              <a:t>play</a:t>
            </a:r>
            <a:r>
              <a:rPr sz="1200" spc="-1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DFD5DE"/>
                </a:solidFill>
                <a:latin typeface="Calibri"/>
                <a:cs typeface="Calibri"/>
              </a:rPr>
              <a:t>a</a:t>
            </a:r>
            <a:r>
              <a:rPr sz="1200" spc="-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DFD5DE"/>
                </a:solidFill>
                <a:latin typeface="Calibri"/>
                <a:cs typeface="Calibri"/>
              </a:rPr>
              <a:t>crucial</a:t>
            </a:r>
            <a:r>
              <a:rPr sz="1200" spc="-1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DFD5DE"/>
                </a:solidFill>
                <a:latin typeface="Calibri"/>
                <a:cs typeface="Calibri"/>
              </a:rPr>
              <a:t>role</a:t>
            </a:r>
            <a:r>
              <a:rPr sz="1200" spc="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DFD5DE"/>
                </a:solidFill>
                <a:latin typeface="Calibri"/>
                <a:cs typeface="Calibri"/>
              </a:rPr>
              <a:t>in</a:t>
            </a:r>
            <a:r>
              <a:rPr sz="1200" spc="-1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DFD5DE"/>
                </a:solidFill>
                <a:latin typeface="Calibri"/>
                <a:cs typeface="Calibri"/>
              </a:rPr>
              <a:t>classification</a:t>
            </a:r>
            <a:r>
              <a:rPr sz="1200" spc="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DFD5DE"/>
                </a:solidFill>
                <a:latin typeface="Calibri"/>
                <a:cs typeface="Calibri"/>
              </a:rPr>
              <a:t>accuracy,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1200" dirty="0">
                <a:solidFill>
                  <a:srgbClr val="DFD5DE"/>
                </a:solidFill>
                <a:latin typeface="Calibri"/>
                <a:cs typeface="Calibri"/>
              </a:rPr>
              <a:t>more</a:t>
            </a:r>
            <a:r>
              <a:rPr sz="1200" spc="-2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DFD5DE"/>
                </a:solidFill>
                <a:latin typeface="Calibri"/>
                <a:cs typeface="Calibri"/>
              </a:rPr>
              <a:t>than</a:t>
            </a:r>
            <a:r>
              <a:rPr sz="1200" spc="-3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DFD5DE"/>
                </a:solidFill>
                <a:latin typeface="Calibri"/>
                <a:cs typeface="Calibri"/>
              </a:rPr>
              <a:t>text</a:t>
            </a:r>
            <a:r>
              <a:rPr sz="1200" spc="-1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DFD5DE"/>
                </a:solidFill>
                <a:latin typeface="Calibri"/>
                <a:cs typeface="Calibri"/>
              </a:rPr>
              <a:t>content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23" name="object 2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98192" y="7028688"/>
            <a:ext cx="79248" cy="79247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2522982" y="6926681"/>
            <a:ext cx="2548890" cy="2616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50" dirty="0">
                <a:solidFill>
                  <a:srgbClr val="DFD5DE"/>
                </a:solidFill>
                <a:latin typeface="Calibri"/>
                <a:cs typeface="Calibri"/>
              </a:rPr>
              <a:t>Cross-</a:t>
            </a:r>
            <a:r>
              <a:rPr sz="1550" spc="-10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DFD5DE"/>
                </a:solidFill>
                <a:latin typeface="Calibri"/>
                <a:cs typeface="Calibri"/>
              </a:rPr>
              <a:t>D</a:t>
            </a:r>
            <a:r>
              <a:rPr sz="1550" spc="-8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50" spc="55" dirty="0">
                <a:solidFill>
                  <a:srgbClr val="DFD5DE"/>
                </a:solidFill>
                <a:latin typeface="Calibri"/>
                <a:cs typeface="Calibri"/>
              </a:rPr>
              <a:t>ocum</a:t>
            </a:r>
            <a:r>
              <a:rPr sz="1550" spc="-11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DFD5DE"/>
                </a:solidFill>
                <a:latin typeface="Calibri"/>
                <a:cs typeface="Calibri"/>
              </a:rPr>
              <a:t>ent</a:t>
            </a:r>
            <a:r>
              <a:rPr sz="1550" spc="17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DFD5DE"/>
                </a:solidFill>
                <a:latin typeface="Calibri"/>
                <a:cs typeface="Calibri"/>
              </a:rPr>
              <a:t>Consistency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522982" y="7242596"/>
            <a:ext cx="4684395" cy="53403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1200" dirty="0">
                <a:solidFill>
                  <a:srgbClr val="DFD5DE"/>
                </a:solidFill>
                <a:latin typeface="Calibri"/>
                <a:cs typeface="Calibri"/>
              </a:rPr>
              <a:t>Predictions</a:t>
            </a:r>
            <a:r>
              <a:rPr sz="1200" spc="-4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DFD5DE"/>
                </a:solidFill>
                <a:latin typeface="Calibri"/>
                <a:cs typeface="Calibri"/>
              </a:rPr>
              <a:t>remain</a:t>
            </a:r>
            <a:r>
              <a:rPr sz="1200" spc="-3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DFD5DE"/>
                </a:solidFill>
                <a:latin typeface="Calibri"/>
                <a:cs typeface="Calibri"/>
              </a:rPr>
              <a:t>consistent</a:t>
            </a:r>
            <a:r>
              <a:rPr sz="1200" spc="-2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DFD5DE"/>
                </a:solidFill>
                <a:latin typeface="Calibri"/>
                <a:cs typeface="Calibri"/>
              </a:rPr>
              <a:t>and</a:t>
            </a:r>
            <a:r>
              <a:rPr sz="1200" spc="-3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DFD5DE"/>
                </a:solidFill>
                <a:latin typeface="Calibri"/>
                <a:cs typeface="Calibri"/>
              </a:rPr>
              <a:t>reliable</a:t>
            </a:r>
            <a:r>
              <a:rPr sz="1200" spc="-4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DFD5DE"/>
                </a:solidFill>
                <a:latin typeface="Calibri"/>
                <a:cs typeface="Calibri"/>
              </a:rPr>
              <a:t>across</a:t>
            </a:r>
            <a:r>
              <a:rPr sz="1200" spc="1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DFD5DE"/>
                </a:solidFill>
                <a:latin typeface="Calibri"/>
                <a:cs typeface="Calibri"/>
              </a:rPr>
              <a:t>different</a:t>
            </a:r>
            <a:r>
              <a:rPr sz="1200" spc="-5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DFD5DE"/>
                </a:solidFill>
                <a:latin typeface="Calibri"/>
                <a:cs typeface="Calibri"/>
              </a:rPr>
              <a:t>test</a:t>
            </a:r>
            <a:r>
              <a:rPr sz="1200" spc="-2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DFD5DE"/>
                </a:solidFill>
                <a:latin typeface="Calibri"/>
                <a:cs typeface="Calibri"/>
              </a:rPr>
              <a:t>images </a:t>
            </a:r>
            <a:r>
              <a:rPr sz="1200" spc="-20" dirty="0">
                <a:solidFill>
                  <a:srgbClr val="DFD5DE"/>
                </a:solidFill>
                <a:latin typeface="Calibri"/>
                <a:cs typeface="Calibri"/>
              </a:rPr>
              <a:t>from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1200" dirty="0">
                <a:solidFill>
                  <a:srgbClr val="DFD5DE"/>
                </a:solidFill>
                <a:latin typeface="Calibri"/>
                <a:cs typeface="Calibri"/>
              </a:rPr>
              <a:t>the</a:t>
            </a:r>
            <a:r>
              <a:rPr sz="1200" spc="-3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DFD5DE"/>
                </a:solidFill>
                <a:latin typeface="Calibri"/>
                <a:cs typeface="Calibri"/>
              </a:rPr>
              <a:t>same</a:t>
            </a:r>
            <a:r>
              <a:rPr sz="1200" spc="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DFD5DE"/>
                </a:solidFill>
                <a:latin typeface="Calibri"/>
                <a:cs typeface="Calibri"/>
              </a:rPr>
              <a:t>scanner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26" name="object 2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14259" y="7028688"/>
            <a:ext cx="79246" cy="79247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7640193" y="6926681"/>
            <a:ext cx="1601470" cy="2616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50" dirty="0">
                <a:solidFill>
                  <a:srgbClr val="DFD5DE"/>
                </a:solidFill>
                <a:latin typeface="Calibri"/>
                <a:cs typeface="Calibri"/>
              </a:rPr>
              <a:t>Confidence</a:t>
            </a:r>
            <a:r>
              <a:rPr sz="1550" spc="9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DFD5DE"/>
                </a:solidFill>
                <a:latin typeface="Calibri"/>
                <a:cs typeface="Calibri"/>
              </a:rPr>
              <a:t>Metrics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640193" y="7242596"/>
            <a:ext cx="4447540" cy="53403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1200" dirty="0">
                <a:solidFill>
                  <a:srgbClr val="DFD5DE"/>
                </a:solidFill>
                <a:latin typeface="Calibri"/>
                <a:cs typeface="Calibri"/>
              </a:rPr>
              <a:t>Confidence</a:t>
            </a:r>
            <a:r>
              <a:rPr sz="1200" spc="-3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DFD5DE"/>
                </a:solidFill>
                <a:latin typeface="Calibri"/>
                <a:cs typeface="Calibri"/>
              </a:rPr>
              <a:t>scores</a:t>
            </a:r>
            <a:r>
              <a:rPr sz="1200" spc="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DFD5DE"/>
                </a:solidFill>
                <a:latin typeface="Calibri"/>
                <a:cs typeface="Calibri"/>
              </a:rPr>
              <a:t>improve</a:t>
            </a:r>
            <a:r>
              <a:rPr sz="1200" spc="-3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DFD5DE"/>
                </a:solidFill>
                <a:latin typeface="Calibri"/>
                <a:cs typeface="Calibri"/>
              </a:rPr>
              <a:t>result</a:t>
            </a:r>
            <a:r>
              <a:rPr sz="1200" spc="-2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DFD5DE"/>
                </a:solidFill>
                <a:latin typeface="Calibri"/>
                <a:cs typeface="Calibri"/>
              </a:rPr>
              <a:t>reliability</a:t>
            </a:r>
            <a:r>
              <a:rPr sz="1200" spc="-4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DFD5DE"/>
                </a:solidFill>
                <a:latin typeface="Calibri"/>
                <a:cs typeface="Calibri"/>
              </a:rPr>
              <a:t>and</a:t>
            </a:r>
            <a:r>
              <a:rPr sz="1200" spc="-2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DFD5DE"/>
                </a:solidFill>
                <a:latin typeface="Calibri"/>
                <a:cs typeface="Calibri"/>
              </a:rPr>
              <a:t>provide</a:t>
            </a:r>
            <a:r>
              <a:rPr sz="1200" spc="-4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DFD5DE"/>
                </a:solidFill>
                <a:latin typeface="Calibri"/>
                <a:cs typeface="Calibri"/>
              </a:rPr>
              <a:t>transparency</a:t>
            </a:r>
            <a:r>
              <a:rPr sz="1200" spc="-3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DFD5DE"/>
                </a:solidFill>
                <a:latin typeface="Calibri"/>
                <a:cs typeface="Calibri"/>
              </a:rPr>
              <a:t>in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1200" dirty="0">
                <a:solidFill>
                  <a:srgbClr val="DFD5DE"/>
                </a:solidFill>
                <a:latin typeface="Calibri"/>
                <a:cs typeface="Calibri"/>
              </a:rPr>
              <a:t>prediction</a:t>
            </a:r>
            <a:r>
              <a:rPr sz="1200" spc="-5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DFD5DE"/>
                </a:solidFill>
                <a:latin typeface="Calibri"/>
                <a:cs typeface="Calibri"/>
              </a:rPr>
              <a:t>certainty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06039" y="663956"/>
            <a:ext cx="352806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0" spc="-20" dirty="0">
                <a:latin typeface="Calibri Light"/>
                <a:cs typeface="Calibri Light"/>
              </a:rPr>
              <a:t>Conclusion</a:t>
            </a:r>
            <a:r>
              <a:rPr sz="2600" b="0" spc="-85" dirty="0">
                <a:latin typeface="Calibri Light"/>
                <a:cs typeface="Calibri Light"/>
              </a:rPr>
              <a:t> </a:t>
            </a:r>
            <a:r>
              <a:rPr sz="2600" b="0" dirty="0">
                <a:latin typeface="Calibri Light"/>
                <a:cs typeface="Calibri Light"/>
              </a:rPr>
              <a:t>&amp;</a:t>
            </a:r>
            <a:r>
              <a:rPr sz="2600" b="0" spc="-40" dirty="0">
                <a:latin typeface="Calibri Light"/>
                <a:cs typeface="Calibri Light"/>
              </a:rPr>
              <a:t> </a:t>
            </a:r>
            <a:r>
              <a:rPr sz="2600" b="0" spc="-20" dirty="0">
                <a:latin typeface="Calibri Light"/>
                <a:cs typeface="Calibri Light"/>
              </a:rPr>
              <a:t>Future</a:t>
            </a:r>
            <a:r>
              <a:rPr sz="2600" b="0" spc="-80" dirty="0">
                <a:latin typeface="Calibri Light"/>
                <a:cs typeface="Calibri Light"/>
              </a:rPr>
              <a:t> </a:t>
            </a:r>
            <a:r>
              <a:rPr sz="2600" b="0" spc="-10" dirty="0">
                <a:latin typeface="Calibri Light"/>
                <a:cs typeface="Calibri Light"/>
              </a:rPr>
              <a:t>Scope</a:t>
            </a:r>
            <a:endParaRPr sz="26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106039" y="1363218"/>
            <a:ext cx="4027804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0" spc="-10" dirty="0">
                <a:solidFill>
                  <a:srgbClr val="96B8FF"/>
                </a:solidFill>
                <a:latin typeface="Calibri Light"/>
                <a:cs typeface="Calibri Light"/>
              </a:rPr>
              <a:t>Conclusion</a:t>
            </a:r>
            <a:endParaRPr sz="2000">
              <a:latin typeface="Calibri Light"/>
              <a:cs typeface="Calibri Light"/>
            </a:endParaRPr>
          </a:p>
          <a:p>
            <a:pPr marL="12700" marR="5080">
              <a:lnSpc>
                <a:spcPct val="141700"/>
              </a:lnSpc>
              <a:spcBef>
                <a:spcPts val="880"/>
              </a:spcBef>
            </a:pPr>
            <a:r>
              <a:rPr sz="1000" dirty="0">
                <a:solidFill>
                  <a:srgbClr val="DFD5DE"/>
                </a:solidFill>
                <a:latin typeface="Calibri"/>
                <a:cs typeface="Calibri"/>
              </a:rPr>
              <a:t>AI</a:t>
            </a:r>
            <a:r>
              <a:rPr sz="1000" spc="1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DFD5DE"/>
                </a:solidFill>
                <a:latin typeface="Calibri"/>
                <a:cs typeface="Calibri"/>
              </a:rPr>
              <a:t>TraceFinder</a:t>
            </a:r>
            <a:r>
              <a:rPr sz="1000" spc="4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DFD5DE"/>
                </a:solidFill>
                <a:latin typeface="Calibri"/>
                <a:cs typeface="Calibri"/>
              </a:rPr>
              <a:t>successfully </a:t>
            </a:r>
            <a:r>
              <a:rPr sz="1000" dirty="0">
                <a:solidFill>
                  <a:srgbClr val="DFD5DE"/>
                </a:solidFill>
                <a:latin typeface="Calibri"/>
                <a:cs typeface="Calibri"/>
              </a:rPr>
              <a:t>demonstrates that</a:t>
            </a:r>
            <a:r>
              <a:rPr sz="1000" spc="-2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DFD5DE"/>
                </a:solidFill>
                <a:latin typeface="Calibri"/>
                <a:cs typeface="Calibri"/>
              </a:rPr>
              <a:t>scanner</a:t>
            </a:r>
            <a:r>
              <a:rPr sz="1000" spc="-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DFD5DE"/>
                </a:solidFill>
                <a:latin typeface="Calibri"/>
                <a:cs typeface="Calibri"/>
              </a:rPr>
              <a:t>source</a:t>
            </a:r>
            <a:r>
              <a:rPr sz="1000" spc="-2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DFD5DE"/>
                </a:solidFill>
                <a:latin typeface="Calibri"/>
                <a:cs typeface="Calibri"/>
              </a:rPr>
              <a:t>identification</a:t>
            </a:r>
            <a:r>
              <a:rPr sz="1000" spc="-2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000" spc="-25" dirty="0">
                <a:solidFill>
                  <a:srgbClr val="DFD5DE"/>
                </a:solidFill>
                <a:latin typeface="Calibri"/>
                <a:cs typeface="Calibri"/>
              </a:rPr>
              <a:t>is </a:t>
            </a:r>
            <a:r>
              <a:rPr sz="1000" spc="-10" dirty="0">
                <a:solidFill>
                  <a:srgbClr val="DFD5DE"/>
                </a:solidFill>
                <a:latin typeface="Calibri"/>
                <a:cs typeface="Calibri"/>
              </a:rPr>
              <a:t>feasible</a:t>
            </a:r>
            <a:r>
              <a:rPr sz="1000" spc="-3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DFD5DE"/>
                </a:solidFill>
                <a:latin typeface="Calibri"/>
                <a:cs typeface="Calibri"/>
              </a:rPr>
              <a:t>and</a:t>
            </a:r>
            <a:r>
              <a:rPr sz="1000" spc="-3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DFD5DE"/>
                </a:solidFill>
                <a:latin typeface="Calibri"/>
                <a:cs typeface="Calibri"/>
              </a:rPr>
              <a:t>highly</a:t>
            </a:r>
            <a:r>
              <a:rPr sz="1000" spc="-3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DFD5DE"/>
                </a:solidFill>
                <a:latin typeface="Calibri"/>
                <a:cs typeface="Calibri"/>
              </a:rPr>
              <a:t>accurate</a:t>
            </a:r>
            <a:r>
              <a:rPr sz="1000" spc="-2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DFD5DE"/>
                </a:solidFill>
                <a:latin typeface="Calibri"/>
                <a:cs typeface="Calibri"/>
              </a:rPr>
              <a:t>using</a:t>
            </a:r>
            <a:r>
              <a:rPr sz="1000" spc="-3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DFD5DE"/>
                </a:solidFill>
                <a:latin typeface="Calibri"/>
                <a:cs typeface="Calibri"/>
              </a:rPr>
              <a:t>machine</a:t>
            </a:r>
            <a:r>
              <a:rPr sz="1000" spc="-1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DFD5DE"/>
                </a:solidFill>
                <a:latin typeface="Calibri"/>
                <a:cs typeface="Calibri"/>
              </a:rPr>
              <a:t>learning</a:t>
            </a:r>
            <a:r>
              <a:rPr sz="1000" spc="-4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DFD5DE"/>
                </a:solidFill>
                <a:latin typeface="Calibri"/>
                <a:cs typeface="Calibri"/>
              </a:rPr>
              <a:t>and</a:t>
            </a:r>
            <a:r>
              <a:rPr sz="1000" spc="-3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DFD5DE"/>
                </a:solidFill>
                <a:latin typeface="Calibri"/>
                <a:cs typeface="Calibri"/>
              </a:rPr>
              <a:t>document</a:t>
            </a:r>
            <a:r>
              <a:rPr sz="1000" spc="-10" dirty="0">
                <a:solidFill>
                  <a:srgbClr val="DFD5DE"/>
                </a:solidFill>
                <a:latin typeface="Calibri"/>
                <a:cs typeface="Calibri"/>
              </a:rPr>
              <a:t> image analysis.</a:t>
            </a:r>
            <a:r>
              <a:rPr sz="1000" spc="-4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DFD5DE"/>
                </a:solidFill>
                <a:latin typeface="Calibri"/>
                <a:cs typeface="Calibri"/>
              </a:rPr>
              <a:t>The project</a:t>
            </a:r>
            <a:r>
              <a:rPr sz="1000" spc="-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DFD5DE"/>
                </a:solidFill>
                <a:latin typeface="Calibri"/>
                <a:cs typeface="Calibri"/>
              </a:rPr>
              <a:t>validates</a:t>
            </a:r>
            <a:r>
              <a:rPr sz="1000" spc="-1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DFD5DE"/>
                </a:solidFill>
                <a:latin typeface="Calibri"/>
                <a:cs typeface="Calibri"/>
              </a:rPr>
              <a:t>the</a:t>
            </a:r>
            <a:r>
              <a:rPr sz="1000" spc="-10" dirty="0">
                <a:solidFill>
                  <a:srgbClr val="DFD5DE"/>
                </a:solidFill>
                <a:latin typeface="Calibri"/>
                <a:cs typeface="Calibri"/>
              </a:rPr>
              <a:t> effectiveness</a:t>
            </a:r>
            <a:r>
              <a:rPr sz="1000" spc="3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DFD5DE"/>
                </a:solidFill>
                <a:latin typeface="Calibri"/>
                <a:cs typeface="Calibri"/>
              </a:rPr>
              <a:t>of</a:t>
            </a:r>
            <a:r>
              <a:rPr sz="1000" spc="-2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DFD5DE"/>
                </a:solidFill>
                <a:latin typeface="Calibri"/>
                <a:cs typeface="Calibri"/>
              </a:rPr>
              <a:t>analyzing</a:t>
            </a:r>
            <a:r>
              <a:rPr sz="1000" spc="-1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DFD5DE"/>
                </a:solidFill>
                <a:latin typeface="Calibri"/>
                <a:cs typeface="Calibri"/>
              </a:rPr>
              <a:t>hardware-level </a:t>
            </a:r>
            <a:r>
              <a:rPr sz="1000" dirty="0">
                <a:solidFill>
                  <a:srgbClr val="DFD5DE"/>
                </a:solidFill>
                <a:latin typeface="Calibri"/>
                <a:cs typeface="Calibri"/>
              </a:rPr>
              <a:t>artifacts</a:t>
            </a:r>
            <a:r>
              <a:rPr sz="1000" spc="-1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DFD5DE"/>
                </a:solidFill>
                <a:latin typeface="Calibri"/>
                <a:cs typeface="Calibri"/>
              </a:rPr>
              <a:t>for</a:t>
            </a:r>
            <a:r>
              <a:rPr sz="1000" spc="-2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DFD5DE"/>
                </a:solidFill>
                <a:latin typeface="Calibri"/>
                <a:cs typeface="Calibri"/>
              </a:rPr>
              <a:t>device</a:t>
            </a:r>
            <a:r>
              <a:rPr sz="1000" spc="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DFD5DE"/>
                </a:solidFill>
                <a:latin typeface="Calibri"/>
                <a:cs typeface="Calibri"/>
              </a:rPr>
              <a:t>attribution</a:t>
            </a:r>
            <a:r>
              <a:rPr sz="1000" spc="-3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DFD5DE"/>
                </a:solidFill>
                <a:latin typeface="Calibri"/>
                <a:cs typeface="Calibri"/>
              </a:rPr>
              <a:t>in</a:t>
            </a:r>
            <a:r>
              <a:rPr sz="1000" spc="-1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DFD5DE"/>
                </a:solidFill>
                <a:latin typeface="Calibri"/>
                <a:cs typeface="Calibri"/>
              </a:rPr>
              <a:t>digital</a:t>
            </a:r>
            <a:r>
              <a:rPr sz="1000" spc="-2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DFD5DE"/>
                </a:solidFill>
                <a:latin typeface="Calibri"/>
                <a:cs typeface="Calibri"/>
              </a:rPr>
              <a:t>forensics.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72553" y="1421130"/>
            <a:ext cx="1051560" cy="2616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50" b="0" spc="-20" dirty="0">
                <a:solidFill>
                  <a:srgbClr val="96B8FF"/>
                </a:solidFill>
                <a:latin typeface="Calibri Light"/>
                <a:cs typeface="Calibri Light"/>
              </a:rPr>
              <a:t>Future</a:t>
            </a:r>
            <a:r>
              <a:rPr sz="1550" b="0" spc="-30" dirty="0">
                <a:solidFill>
                  <a:srgbClr val="96B8FF"/>
                </a:solidFill>
                <a:latin typeface="Calibri Light"/>
                <a:cs typeface="Calibri Light"/>
              </a:rPr>
              <a:t> </a:t>
            </a:r>
            <a:r>
              <a:rPr sz="1550" b="0" spc="-10" dirty="0">
                <a:solidFill>
                  <a:srgbClr val="96B8FF"/>
                </a:solidFill>
                <a:latin typeface="Calibri Light"/>
                <a:cs typeface="Calibri Light"/>
              </a:rPr>
              <a:t>Scope</a:t>
            </a:r>
            <a:endParaRPr sz="1550">
              <a:latin typeface="Calibri Light"/>
              <a:cs typeface="Calibri Ligh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69123" y="1837944"/>
            <a:ext cx="4066031" cy="3047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472553" y="1976119"/>
            <a:ext cx="127381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DFD5DE"/>
                </a:solidFill>
                <a:latin typeface="Calibri"/>
                <a:cs typeface="Calibri"/>
              </a:rPr>
              <a:t>Device</a:t>
            </a:r>
            <a:r>
              <a:rPr sz="1300" spc="22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DFD5DE"/>
                </a:solidFill>
                <a:latin typeface="Calibri"/>
                <a:cs typeface="Calibri"/>
              </a:rPr>
              <a:t>Exp</a:t>
            </a:r>
            <a:r>
              <a:rPr sz="1300" spc="-11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DFD5DE"/>
                </a:solidFill>
                <a:latin typeface="Calibri"/>
                <a:cs typeface="Calibri"/>
              </a:rPr>
              <a:t>ansio</a:t>
            </a:r>
            <a:r>
              <a:rPr sz="1300" spc="-114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300" spc="-50" dirty="0">
                <a:solidFill>
                  <a:srgbClr val="DFD5DE"/>
                </a:solidFill>
                <a:latin typeface="Calibri"/>
                <a:cs typeface="Calibri"/>
              </a:rPr>
              <a:t>n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72553" y="2363469"/>
            <a:ext cx="37953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DFD5DE"/>
                </a:solidFill>
                <a:latin typeface="Calibri"/>
                <a:cs typeface="Calibri"/>
              </a:rPr>
              <a:t>Support</a:t>
            </a:r>
            <a:r>
              <a:rPr sz="1000" spc="5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DFD5DE"/>
                </a:solidFill>
                <a:latin typeface="Calibri"/>
                <a:cs typeface="Calibri"/>
              </a:rPr>
              <a:t>for</a:t>
            </a:r>
            <a:r>
              <a:rPr sz="1000" spc="1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DFD5DE"/>
                </a:solidFill>
                <a:latin typeface="Calibri"/>
                <a:cs typeface="Calibri"/>
              </a:rPr>
              <a:t>additional</a:t>
            </a:r>
            <a:r>
              <a:rPr sz="1000" spc="-3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DFD5DE"/>
                </a:solidFill>
                <a:latin typeface="Calibri"/>
                <a:cs typeface="Calibri"/>
              </a:rPr>
              <a:t>scanner</a:t>
            </a:r>
            <a:r>
              <a:rPr sz="1000" spc="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DFD5DE"/>
                </a:solidFill>
                <a:latin typeface="Calibri"/>
                <a:cs typeface="Calibri"/>
              </a:rPr>
              <a:t>devices,</a:t>
            </a:r>
            <a:r>
              <a:rPr sz="1000" spc="1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DFD5DE"/>
                </a:solidFill>
                <a:latin typeface="Calibri"/>
                <a:cs typeface="Calibri"/>
              </a:rPr>
              <a:t>printers,</a:t>
            </a:r>
            <a:r>
              <a:rPr sz="1000" spc="-1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DFD5DE"/>
                </a:solidFill>
                <a:latin typeface="Calibri"/>
                <a:cs typeface="Calibri"/>
              </a:rPr>
              <a:t>and</a:t>
            </a:r>
            <a:r>
              <a:rPr sz="1000" spc="-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DFD5DE"/>
                </a:solidFill>
                <a:latin typeface="Calibri"/>
                <a:cs typeface="Calibri"/>
              </a:rPr>
              <a:t>copier</a:t>
            </a:r>
            <a:r>
              <a:rPr sz="1000" spc="1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DFD5DE"/>
                </a:solidFill>
                <a:latin typeface="Calibri"/>
                <a:cs typeface="Calibri"/>
              </a:rPr>
              <a:t>identification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69123" y="3031235"/>
            <a:ext cx="4066031" cy="3047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472553" y="3169666"/>
            <a:ext cx="139890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DFD5DE"/>
                </a:solidFill>
                <a:latin typeface="Calibri"/>
                <a:cs typeface="Calibri"/>
              </a:rPr>
              <a:t>Cloud</a:t>
            </a:r>
            <a:r>
              <a:rPr sz="1300" spc="25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300" spc="50" dirty="0">
                <a:solidFill>
                  <a:srgbClr val="DFD5DE"/>
                </a:solidFill>
                <a:latin typeface="Calibri"/>
                <a:cs typeface="Calibri"/>
              </a:rPr>
              <a:t>Deployment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72553" y="3556761"/>
            <a:ext cx="32245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DFD5DE"/>
                </a:solidFill>
                <a:latin typeface="Calibri"/>
                <a:cs typeface="Calibri"/>
              </a:rPr>
              <a:t>Cloud-</a:t>
            </a:r>
            <a:r>
              <a:rPr sz="1000" dirty="0">
                <a:solidFill>
                  <a:srgbClr val="DFD5DE"/>
                </a:solidFill>
                <a:latin typeface="Calibri"/>
                <a:cs typeface="Calibri"/>
              </a:rPr>
              <a:t>based</a:t>
            </a:r>
            <a:r>
              <a:rPr sz="1000" spc="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DFD5DE"/>
                </a:solidFill>
                <a:latin typeface="Calibri"/>
                <a:cs typeface="Calibri"/>
              </a:rPr>
              <a:t>infrastructure</a:t>
            </a:r>
            <a:r>
              <a:rPr sz="1000" spc="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DFD5DE"/>
                </a:solidFill>
                <a:latin typeface="Calibri"/>
                <a:cs typeface="Calibri"/>
              </a:rPr>
              <a:t>for</a:t>
            </a:r>
            <a:r>
              <a:rPr sz="1000" spc="1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DFD5DE"/>
                </a:solidFill>
                <a:latin typeface="Calibri"/>
                <a:cs typeface="Calibri"/>
              </a:rPr>
              <a:t>scalable,</a:t>
            </a:r>
            <a:r>
              <a:rPr sz="1000" spc="-3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DFD5DE"/>
                </a:solidFill>
                <a:latin typeface="Calibri"/>
                <a:cs typeface="Calibri"/>
              </a:rPr>
              <a:t>distributed</a:t>
            </a:r>
            <a:r>
              <a:rPr sz="1000" spc="1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DFD5DE"/>
                </a:solidFill>
                <a:latin typeface="Calibri"/>
                <a:cs typeface="Calibri"/>
              </a:rPr>
              <a:t>processing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69123" y="4011167"/>
            <a:ext cx="4066031" cy="3047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7472553" y="4150614"/>
            <a:ext cx="108648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DFD5DE"/>
                </a:solidFill>
                <a:latin typeface="Calibri"/>
                <a:cs typeface="Calibri"/>
              </a:rPr>
              <a:t>API</a:t>
            </a:r>
            <a:r>
              <a:rPr sz="1300" spc="9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DFD5DE"/>
                </a:solidFill>
                <a:latin typeface="Calibri"/>
                <a:cs typeface="Calibri"/>
              </a:rPr>
              <a:t>Integ</a:t>
            </a:r>
            <a:r>
              <a:rPr sz="1300" spc="-9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DFD5DE"/>
                </a:solidFill>
                <a:latin typeface="Calibri"/>
                <a:cs typeface="Calibri"/>
              </a:rPr>
              <a:t>ratio</a:t>
            </a:r>
            <a:r>
              <a:rPr sz="1300" spc="-15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300" spc="-50" dirty="0">
                <a:solidFill>
                  <a:srgbClr val="DFD5DE"/>
                </a:solidFill>
                <a:latin typeface="Calibri"/>
                <a:cs typeface="Calibri"/>
              </a:rPr>
              <a:t>n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472553" y="4537964"/>
            <a:ext cx="31673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DFD5DE"/>
                </a:solidFill>
                <a:latin typeface="Calibri"/>
                <a:cs typeface="Calibri"/>
              </a:rPr>
              <a:t>RESTful</a:t>
            </a:r>
            <a:r>
              <a:rPr sz="1000" spc="4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DFD5DE"/>
                </a:solidFill>
                <a:latin typeface="Calibri"/>
                <a:cs typeface="Calibri"/>
              </a:rPr>
              <a:t>API</a:t>
            </a:r>
            <a:r>
              <a:rPr sz="1000" spc="3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DFD5DE"/>
                </a:solidFill>
                <a:latin typeface="Calibri"/>
                <a:cs typeface="Calibri"/>
              </a:rPr>
              <a:t>for</a:t>
            </a:r>
            <a:r>
              <a:rPr sz="1000" spc="-10" dirty="0">
                <a:solidFill>
                  <a:srgbClr val="DFD5DE"/>
                </a:solidFill>
                <a:latin typeface="Calibri"/>
                <a:cs typeface="Calibri"/>
              </a:rPr>
              <a:t> seamless</a:t>
            </a:r>
            <a:r>
              <a:rPr sz="1000" spc="1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DFD5DE"/>
                </a:solidFill>
                <a:latin typeface="Calibri"/>
                <a:cs typeface="Calibri"/>
              </a:rPr>
              <a:t>integration</a:t>
            </a:r>
            <a:r>
              <a:rPr sz="1000" spc="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DFD5DE"/>
                </a:solidFill>
                <a:latin typeface="Calibri"/>
                <a:cs typeface="Calibri"/>
              </a:rPr>
              <a:t>with </a:t>
            </a:r>
            <a:r>
              <a:rPr sz="1000" spc="-10" dirty="0">
                <a:solidFill>
                  <a:srgbClr val="DFD5DE"/>
                </a:solidFill>
                <a:latin typeface="Calibri"/>
                <a:cs typeface="Calibri"/>
              </a:rPr>
              <a:t>forensic</a:t>
            </a:r>
            <a:r>
              <a:rPr sz="100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DFD5DE"/>
                </a:solidFill>
                <a:latin typeface="Calibri"/>
                <a:cs typeface="Calibri"/>
              </a:rPr>
              <a:t>workflows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69123" y="4992623"/>
            <a:ext cx="4066031" cy="30480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7472553" y="5131689"/>
            <a:ext cx="134112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DFD5DE"/>
                </a:solidFill>
                <a:latin typeface="Calibri"/>
                <a:cs typeface="Calibri"/>
              </a:rPr>
              <a:t>Enhanced</a:t>
            </a:r>
            <a:r>
              <a:rPr sz="1300" spc="5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DFD5DE"/>
                </a:solidFill>
                <a:latin typeface="Calibri"/>
                <a:cs typeface="Calibri"/>
              </a:rPr>
              <a:t>Accuracy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472553" y="5518784"/>
            <a:ext cx="340867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DFD5DE"/>
                </a:solidFill>
                <a:latin typeface="Calibri"/>
                <a:cs typeface="Calibri"/>
              </a:rPr>
              <a:t>Improved model</a:t>
            </a:r>
            <a:r>
              <a:rPr sz="1000" spc="-4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DFD5DE"/>
                </a:solidFill>
                <a:latin typeface="Calibri"/>
                <a:cs typeface="Calibri"/>
              </a:rPr>
              <a:t>performance</a:t>
            </a:r>
            <a:r>
              <a:rPr sz="1000" spc="-20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DFD5DE"/>
                </a:solidFill>
                <a:latin typeface="Calibri"/>
                <a:cs typeface="Calibri"/>
              </a:rPr>
              <a:t>using</a:t>
            </a:r>
            <a:r>
              <a:rPr sz="1000" spc="-4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DFD5DE"/>
                </a:solidFill>
                <a:latin typeface="Calibri"/>
                <a:cs typeface="Calibri"/>
              </a:rPr>
              <a:t>larger,</a:t>
            </a:r>
            <a:r>
              <a:rPr sz="1000" spc="-5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DFD5DE"/>
                </a:solidFill>
                <a:latin typeface="Calibri"/>
                <a:cs typeface="Calibri"/>
              </a:rPr>
              <a:t>more</a:t>
            </a:r>
            <a:r>
              <a:rPr sz="1000" spc="-3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DFD5DE"/>
                </a:solidFill>
                <a:latin typeface="Calibri"/>
                <a:cs typeface="Calibri"/>
              </a:rPr>
              <a:t>diverse</a:t>
            </a:r>
            <a:r>
              <a:rPr sz="1000" spc="-35" dirty="0">
                <a:solidFill>
                  <a:srgbClr val="DFD5DE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DFD5DE"/>
                </a:solidFill>
                <a:latin typeface="Calibri"/>
                <a:cs typeface="Calibri"/>
              </a:rPr>
              <a:t>datasets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118104" y="6073140"/>
            <a:ext cx="8394700" cy="22860"/>
          </a:xfrm>
          <a:custGeom>
            <a:avLst/>
            <a:gdLst/>
            <a:ahLst/>
            <a:cxnLst/>
            <a:rect l="l" t="t" r="r" b="b"/>
            <a:pathLst>
              <a:path w="8394700" h="22860">
                <a:moveTo>
                  <a:pt x="8394192" y="0"/>
                </a:moveTo>
                <a:lnTo>
                  <a:pt x="0" y="0"/>
                </a:lnTo>
                <a:lnTo>
                  <a:pt x="0" y="22860"/>
                </a:lnTo>
                <a:lnTo>
                  <a:pt x="8394192" y="22860"/>
                </a:lnTo>
                <a:lnTo>
                  <a:pt x="8394192" y="0"/>
                </a:lnTo>
                <a:close/>
              </a:path>
            </a:pathLst>
          </a:custGeom>
          <a:solidFill>
            <a:srgbClr val="DFD5DE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106039" y="6242761"/>
            <a:ext cx="2688590" cy="817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200" b="0" spc="-30" dirty="0">
                <a:solidFill>
                  <a:srgbClr val="96B8FF"/>
                </a:solidFill>
                <a:latin typeface="Calibri Light"/>
                <a:cs typeface="Calibri Light"/>
              </a:rPr>
              <a:t>Thank</a:t>
            </a:r>
            <a:r>
              <a:rPr sz="5200" b="0" spc="-250" dirty="0">
                <a:solidFill>
                  <a:srgbClr val="96B8FF"/>
                </a:solidFill>
                <a:latin typeface="Calibri Light"/>
                <a:cs typeface="Calibri Light"/>
              </a:rPr>
              <a:t> </a:t>
            </a:r>
            <a:r>
              <a:rPr sz="5200" b="0" spc="-95" dirty="0">
                <a:solidFill>
                  <a:srgbClr val="96B8FF"/>
                </a:solidFill>
                <a:latin typeface="Calibri Light"/>
                <a:cs typeface="Calibri Light"/>
              </a:rPr>
              <a:t>You</a:t>
            </a:r>
            <a:endParaRPr sz="52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720</Words>
  <Application>Microsoft Office PowerPoint</Application>
  <PresentationFormat>Custom</PresentationFormat>
  <Paragraphs>125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Microsoft JhengHei</vt:lpstr>
      <vt:lpstr>Calibri</vt:lpstr>
      <vt:lpstr>Calibri Light</vt:lpstr>
      <vt:lpstr>Office Theme</vt:lpstr>
      <vt:lpstr>AI TraceFinder</vt:lpstr>
      <vt:lpstr>Background &amp; Problem Statement</vt:lpstr>
      <vt:lpstr>Project Objective</vt:lpstr>
      <vt:lpstr>Dataset &amp; Input Description</vt:lpstr>
      <vt:lpstr>Image Preprocessing Pipeline</vt:lpstr>
      <vt:lpstr>Machine Learning Approach</vt:lpstr>
      <vt:lpstr>System Architecture</vt:lpstr>
      <vt:lpstr>Web Application Interface</vt:lpstr>
      <vt:lpstr>Results &amp; Key O bservatio ns</vt:lpstr>
      <vt:lpstr>Conclusion &amp; Future Scope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Jinay Shah</cp:lastModifiedBy>
  <cp:revision>1</cp:revision>
  <dcterms:created xsi:type="dcterms:W3CDTF">2026-01-23T13:15:03Z</dcterms:created>
  <dcterms:modified xsi:type="dcterms:W3CDTF">2026-01-23T13:15:47Z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2026-01-23T00:00:00Z</vt:filetime>
  </property>
  <property fmtid="{D5CDD505-2E9C-101B-9397-08002B2CF9AE}" pid="3" name="Creator">
    <vt:lpwstr>Foxit Software Inc.</vt:lpwstr>
  </property>
  <property fmtid="{D5CDD505-2E9C-101B-9397-08002B2CF9AE}" pid="4" name="LastSaved">
    <vt:filetime>2026-01-23T00:00:00Z</vt:filetime>
  </property>
</Properties>
</file>