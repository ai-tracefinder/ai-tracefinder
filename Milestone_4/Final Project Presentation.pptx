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DM Sans" pitchFamily="2" charset="0"/>
      <p:regular r:id="rId16"/>
    </p:embeddedFont>
    <p:embeddedFont>
      <p:font typeface="DM Sans Bold" panose="020B0604020202020204" charset="0"/>
      <p:regular r:id="rId17"/>
    </p:embeddedFont>
    <p:embeddedFont>
      <p:font typeface="Open Sans Bold" panose="020B0604020202020204" charset="0"/>
      <p:regular r:id="rId18"/>
    </p:embeddedFont>
    <p:embeddedFont>
      <p:font typeface="Open Sans Light" panose="020B030603050402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0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18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9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9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32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oleObject" Target="../embeddings/oleObject1.bin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Relationship Id="rId30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3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688802" y="3136543"/>
            <a:ext cx="10910396" cy="320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sz="1299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AI </a:t>
            </a:r>
            <a:r>
              <a:rPr lang="en-US" sz="12998" b="1" dirty="0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TraceFinder</a:t>
            </a:r>
            <a:endParaRPr lang="en-US" sz="12998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914102" y="6624033"/>
            <a:ext cx="8459795" cy="57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b="1" spc="-87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Ann Flo S Poonolil</a:t>
            </a:r>
          </a:p>
        </p:txBody>
      </p:sp>
      <p:sp>
        <p:nvSpPr>
          <p:cNvPr id="18" name="Freeform 18"/>
          <p:cNvSpPr/>
          <p:nvPr/>
        </p:nvSpPr>
        <p:spPr>
          <a:xfrm>
            <a:off x="4737926" y="2576219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EF4AD-077E-861D-D1E8-036617868002}"/>
              </a:ext>
            </a:extLst>
          </p:cNvPr>
          <p:cNvSpPr txBox="1"/>
          <p:nvPr/>
        </p:nvSpPr>
        <p:spPr>
          <a:xfrm>
            <a:off x="7401949" y="7081609"/>
            <a:ext cx="491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DM Sans" pitchFamily="2" charset="0"/>
              </a:rPr>
              <a:t>College Of Engineering Trivandrum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82135" y="2155218"/>
            <a:ext cx="6264366" cy="6104909"/>
          </a:xfrm>
          <a:custGeom>
            <a:avLst/>
            <a:gdLst/>
            <a:ahLst/>
            <a:cxnLst/>
            <a:rect l="l" t="t" r="r" b="b"/>
            <a:pathLst>
              <a:path w="6264366" h="6104909">
                <a:moveTo>
                  <a:pt x="0" y="0"/>
                </a:moveTo>
                <a:lnTo>
                  <a:pt x="6264366" y="0"/>
                </a:lnTo>
                <a:lnTo>
                  <a:pt x="6264366" y="6104909"/>
                </a:lnTo>
                <a:lnTo>
                  <a:pt x="0" y="6104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4950" y="2345718"/>
            <a:ext cx="7848753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8250" y="4965128"/>
            <a:ext cx="10144157" cy="3049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3"/>
              </a:lnSpc>
              <a:spcBef>
                <a:spcPct val="0"/>
              </a:spcBef>
            </a:pPr>
            <a:r>
              <a:rPr lang="en-US" sz="2632" spc="1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Scann</a:t>
            </a:r>
            <a:r>
              <a:rPr lang="en-US" sz="2632" u="none" spc="1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documents contain device-specific noise and artifact patterns unique to each scanner.</a:t>
            </a:r>
          </a:p>
          <a:p>
            <a:pPr marL="0" lvl="0" indent="0" algn="l">
              <a:lnSpc>
                <a:spcPts val="3553"/>
              </a:lnSpc>
              <a:spcBef>
                <a:spcPct val="0"/>
              </a:spcBef>
            </a:pPr>
            <a:r>
              <a:rPr lang="en-US" sz="2632" u="none" spc="1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Identifying the source scanner of a document is challenging using manual inspection alone.</a:t>
            </a:r>
          </a:p>
          <a:p>
            <a:pPr marL="0" lvl="0" indent="0" algn="l">
              <a:lnSpc>
                <a:spcPts val="3553"/>
              </a:lnSpc>
              <a:spcBef>
                <a:spcPct val="0"/>
              </a:spcBef>
            </a:pPr>
            <a:r>
              <a:rPr lang="en-US" sz="2632" u="none" spc="1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aims to automatically classify the scanner brand/model using machine learning and deep learning techniques.</a:t>
            </a:r>
          </a:p>
        </p:txBody>
      </p:sp>
      <p:sp>
        <p:nvSpPr>
          <p:cNvPr id="5" name="Freeform 5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950" y="3671421"/>
            <a:ext cx="7025086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 Cases: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975489" y="1170261"/>
            <a:ext cx="6998061" cy="2561528"/>
            <a:chOff x="0" y="0"/>
            <a:chExt cx="2342659" cy="857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91672" y="2024301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75489" y="3862348"/>
            <a:ext cx="6998061" cy="2561528"/>
            <a:chOff x="0" y="0"/>
            <a:chExt cx="2342659" cy="857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75489" y="6557226"/>
            <a:ext cx="6998061" cy="2561528"/>
            <a:chOff x="0" y="0"/>
            <a:chExt cx="2342659" cy="8574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91672" y="4717783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91672" y="7411266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33825" y="1622636"/>
            <a:ext cx="4702293" cy="14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3"/>
              </a:lnSpc>
              <a:spcBef>
                <a:spcPct val="0"/>
              </a:spcBef>
            </a:pPr>
            <a:r>
              <a:rPr lang="en-US" sz="2158" b="1" spc="3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F</a:t>
            </a:r>
            <a:r>
              <a:rPr lang="en-US" sz="2158" b="1" u="none" spc="3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orensics</a:t>
            </a:r>
            <a:r>
              <a:rPr lang="en-US" sz="2158" u="none" spc="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Identify the scanner used in forged or tampered documents during investigations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33825" y="4403081"/>
            <a:ext cx="4702293" cy="144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6"/>
              </a:lnSpc>
              <a:spcBef>
                <a:spcPct val="0"/>
              </a:spcBef>
            </a:pPr>
            <a:r>
              <a:rPr lang="en-US" sz="2160" b="1" spc="3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sz="2160" b="1" u="none" spc="3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ocument Authentication</a:t>
            </a:r>
            <a:r>
              <a:rPr lang="en-US" sz="2160" u="none" spc="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:Verify whether scanned documents originate from authorized scanner devices.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33825" y="7090626"/>
            <a:ext cx="4754642" cy="144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16"/>
              </a:lnSpc>
              <a:spcBef>
                <a:spcPct val="0"/>
              </a:spcBef>
            </a:pPr>
            <a:r>
              <a:rPr lang="en-US" sz="2160" b="1" u="none" spc="3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Legal Evidence Verification</a:t>
            </a:r>
            <a:r>
              <a:rPr lang="en-US" sz="2160" u="none" spc="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Ensure scanned documents submitted in legal proceedings come from approved sources.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4589" y="702248"/>
            <a:ext cx="8092094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3760" y="2274779"/>
            <a:ext cx="4488541" cy="5851541"/>
            <a:chOff x="0" y="0"/>
            <a:chExt cx="934346" cy="12180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4346" cy="1218071"/>
            </a:xfrm>
            <a:custGeom>
              <a:avLst/>
              <a:gdLst/>
              <a:ahLst/>
              <a:cxnLst/>
              <a:rect l="l" t="t" r="r" b="b"/>
              <a:pathLst>
                <a:path w="934346" h="1218071">
                  <a:moveTo>
                    <a:pt x="58644" y="0"/>
                  </a:moveTo>
                  <a:lnTo>
                    <a:pt x="875702" y="0"/>
                  </a:lnTo>
                  <a:cubicBezTo>
                    <a:pt x="908090" y="0"/>
                    <a:pt x="934346" y="26256"/>
                    <a:pt x="934346" y="58644"/>
                  </a:cubicBezTo>
                  <a:lnTo>
                    <a:pt x="934346" y="1159428"/>
                  </a:lnTo>
                  <a:cubicBezTo>
                    <a:pt x="934346" y="1191816"/>
                    <a:pt x="908090" y="1218071"/>
                    <a:pt x="875702" y="1218071"/>
                  </a:cubicBezTo>
                  <a:lnTo>
                    <a:pt x="58644" y="1218071"/>
                  </a:lnTo>
                  <a:cubicBezTo>
                    <a:pt x="43091" y="1218071"/>
                    <a:pt x="28174" y="1211893"/>
                    <a:pt x="17176" y="1200895"/>
                  </a:cubicBezTo>
                  <a:cubicBezTo>
                    <a:pt x="6179" y="1189897"/>
                    <a:pt x="0" y="1174981"/>
                    <a:pt x="0" y="1159428"/>
                  </a:cubicBezTo>
                  <a:lnTo>
                    <a:pt x="0" y="58644"/>
                  </a:lnTo>
                  <a:cubicBezTo>
                    <a:pt x="0" y="26256"/>
                    <a:pt x="26256" y="0"/>
                    <a:pt x="58644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34346" cy="1256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16559" y="2184738"/>
            <a:ext cx="4488541" cy="5941581"/>
            <a:chOff x="0" y="0"/>
            <a:chExt cx="934346" cy="12368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4346" cy="1236814"/>
            </a:xfrm>
            <a:custGeom>
              <a:avLst/>
              <a:gdLst/>
              <a:ahLst/>
              <a:cxnLst/>
              <a:rect l="l" t="t" r="r" b="b"/>
              <a:pathLst>
                <a:path w="934346" h="1236814">
                  <a:moveTo>
                    <a:pt x="58644" y="0"/>
                  </a:moveTo>
                  <a:lnTo>
                    <a:pt x="875702" y="0"/>
                  </a:lnTo>
                  <a:cubicBezTo>
                    <a:pt x="908090" y="0"/>
                    <a:pt x="934346" y="26256"/>
                    <a:pt x="934346" y="58644"/>
                  </a:cubicBezTo>
                  <a:lnTo>
                    <a:pt x="934346" y="1178171"/>
                  </a:lnTo>
                  <a:cubicBezTo>
                    <a:pt x="934346" y="1210559"/>
                    <a:pt x="908090" y="1236814"/>
                    <a:pt x="875702" y="1236814"/>
                  </a:cubicBezTo>
                  <a:lnTo>
                    <a:pt x="58644" y="1236814"/>
                  </a:lnTo>
                  <a:cubicBezTo>
                    <a:pt x="26256" y="1236814"/>
                    <a:pt x="0" y="1210559"/>
                    <a:pt x="0" y="1178171"/>
                  </a:cubicBezTo>
                  <a:lnTo>
                    <a:pt x="0" y="58644"/>
                  </a:lnTo>
                  <a:cubicBezTo>
                    <a:pt x="0" y="26256"/>
                    <a:pt x="26256" y="0"/>
                    <a:pt x="58644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34346" cy="1274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04419" y="2139718"/>
            <a:ext cx="4488541" cy="5941581"/>
            <a:chOff x="0" y="0"/>
            <a:chExt cx="934346" cy="12368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4346" cy="1236814"/>
            </a:xfrm>
            <a:custGeom>
              <a:avLst/>
              <a:gdLst/>
              <a:ahLst/>
              <a:cxnLst/>
              <a:rect l="l" t="t" r="r" b="b"/>
              <a:pathLst>
                <a:path w="934346" h="1236814">
                  <a:moveTo>
                    <a:pt x="58644" y="0"/>
                  </a:moveTo>
                  <a:lnTo>
                    <a:pt x="875702" y="0"/>
                  </a:lnTo>
                  <a:cubicBezTo>
                    <a:pt x="908090" y="0"/>
                    <a:pt x="934346" y="26256"/>
                    <a:pt x="934346" y="58644"/>
                  </a:cubicBezTo>
                  <a:lnTo>
                    <a:pt x="934346" y="1178171"/>
                  </a:lnTo>
                  <a:cubicBezTo>
                    <a:pt x="934346" y="1210559"/>
                    <a:pt x="908090" y="1236814"/>
                    <a:pt x="875702" y="1236814"/>
                  </a:cubicBezTo>
                  <a:lnTo>
                    <a:pt x="58644" y="1236814"/>
                  </a:lnTo>
                  <a:cubicBezTo>
                    <a:pt x="26256" y="1236814"/>
                    <a:pt x="0" y="1210559"/>
                    <a:pt x="0" y="1178171"/>
                  </a:cubicBezTo>
                  <a:lnTo>
                    <a:pt x="0" y="58644"/>
                  </a:lnTo>
                  <a:cubicBezTo>
                    <a:pt x="0" y="26256"/>
                    <a:pt x="26256" y="0"/>
                    <a:pt x="58644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34346" cy="1274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94589" y="2846840"/>
            <a:ext cx="4488541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Data Collection: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1451" y="3608722"/>
            <a:ext cx="3565629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Created a specialized collection of flat-field images, original document scans, and Wikipedia-sourced materials to capture diverse sensor-level data.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16559" y="2846840"/>
            <a:ext cx="4488541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Statistics: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78015" y="3608722"/>
            <a:ext cx="3565629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Structured a robust dataset across various classes, utilizing an 80/10 split to ensure the model generalizes effectively across different document types.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67151" y="3726079"/>
            <a:ext cx="3565629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Focused on isolating PRNU (sensor fingerprints) from flat-field and scanned images to distinguish unique hardware traits from document content.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1851" y="2589665"/>
            <a:ext cx="4353481" cy="101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Processing &amp; Engineering: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235488" y="2515509"/>
            <a:ext cx="14491503" cy="7045152"/>
          </a:xfrm>
          <a:custGeom>
            <a:avLst/>
            <a:gdLst/>
            <a:ahLst/>
            <a:cxnLst/>
            <a:rect l="l" t="t" r="r" b="b"/>
            <a:pathLst>
              <a:path w="14491503" h="7045152">
                <a:moveTo>
                  <a:pt x="0" y="0"/>
                </a:moveTo>
                <a:lnTo>
                  <a:pt x="14491503" y="0"/>
                </a:lnTo>
                <a:lnTo>
                  <a:pt x="14491503" y="7045152"/>
                </a:lnTo>
                <a:lnTo>
                  <a:pt x="0" y="704515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3171" t="-4826" r="-317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80971" y="1513287"/>
            <a:ext cx="12244523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5930165" y="4823914"/>
            <a:ext cx="502056" cy="5020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27066" y="4823914"/>
            <a:ext cx="502056" cy="502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53627" y="4823914"/>
            <a:ext cx="502056" cy="5020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96139" y="4823914"/>
            <a:ext cx="502056" cy="5020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32501" y="1907439"/>
            <a:ext cx="9165694" cy="228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Phases of Development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28468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8468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4061" y="6213893"/>
            <a:ext cx="3791357" cy="315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2622" b="1" spc="-15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Collection And Preprocessing</a:t>
            </a:r>
            <a:r>
              <a:rPr lang="en-US" sz="2622" spc="-15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l">
              <a:lnSpc>
                <a:spcPts val="2517"/>
              </a:lnSpc>
            </a:pPr>
            <a:r>
              <a:rPr lang="en-US" sz="2622" spc="-15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Collected a diverse dataset of flat-field images and document scans (Original/Wikipedia) and standardized them through resizing and normalization to prepare for deep learning.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05637" y="6268945"/>
            <a:ext cx="3475693" cy="326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2619" b="1" spc="-9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Engineering &amp; Baseline Modeling:</a:t>
            </a:r>
          </a:p>
          <a:p>
            <a:pPr algn="l">
              <a:lnSpc>
                <a:spcPts val="2384"/>
              </a:lnSpc>
            </a:pPr>
            <a:r>
              <a:rPr lang="en-US" sz="2619" spc="-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Extracted forensic-specific features like PRNU noise patterns, FFT frequency signals, and LBP textures to establish a performance baseline using traditional ML classifiers.</a:t>
            </a:r>
          </a:p>
          <a:p>
            <a:pPr algn="l">
              <a:lnSpc>
                <a:spcPts val="2384"/>
              </a:lnSpc>
            </a:pPr>
            <a:endParaRPr lang="en-US" sz="2619" spc="-9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671930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09955" y="6240370"/>
            <a:ext cx="3754370" cy="3905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2619" b="1" spc="-9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Deep Learning Model &amp; Explainability:</a:t>
            </a:r>
          </a:p>
          <a:p>
            <a:pPr algn="l">
              <a:lnSpc>
                <a:spcPts val="2619"/>
              </a:lnSpc>
            </a:pPr>
            <a:r>
              <a:rPr lang="en-US" sz="2619" spc="-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Developed a CNN architecture to automatically learn complex scanner artifacts and utilized tools like Grad-CAM to visualize which image regions influenced the identification.</a:t>
            </a:r>
          </a:p>
          <a:p>
            <a:pPr algn="l">
              <a:lnSpc>
                <a:spcPts val="2619"/>
              </a:lnSpc>
            </a:pPr>
            <a:endParaRPr lang="en-US" sz="2619" spc="-9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414442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92950" y="6371691"/>
            <a:ext cx="3411833" cy="297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2619" b="1" spc="-9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Deployment &amp; Final Reporting:</a:t>
            </a:r>
            <a:r>
              <a:rPr lang="en-US" sz="2619" spc="-9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ntegrated the trained model into a Streamlit UI, enabling users to upload scans and receive real-time predictions with confidence scores and forensic analysis reports.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-1824268" y="9324440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9020" y="778251"/>
            <a:ext cx="13501022" cy="1497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3"/>
              </a:lnSpc>
            </a:pPr>
            <a:r>
              <a:rPr lang="en-US" sz="594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Exploratory Data Analysis (EDA) &amp; Visualization: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1035889" y="-225158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850701" y="2371030"/>
            <a:ext cx="7016811" cy="2602363"/>
          </a:xfrm>
          <a:custGeom>
            <a:avLst/>
            <a:gdLst/>
            <a:ahLst/>
            <a:cxnLst/>
            <a:rect l="l" t="t" r="r" b="b"/>
            <a:pathLst>
              <a:path w="7016811" h="2602363">
                <a:moveTo>
                  <a:pt x="0" y="0"/>
                </a:moveTo>
                <a:lnTo>
                  <a:pt x="7016811" y="0"/>
                </a:lnTo>
                <a:lnTo>
                  <a:pt x="7016811" y="2602362"/>
                </a:lnTo>
                <a:lnTo>
                  <a:pt x="0" y="260236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4597" t="-1725" r="-4597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50701" y="5757610"/>
            <a:ext cx="7016811" cy="2571404"/>
          </a:xfrm>
          <a:custGeom>
            <a:avLst/>
            <a:gdLst/>
            <a:ahLst/>
            <a:cxnLst/>
            <a:rect l="l" t="t" r="r" b="b"/>
            <a:pathLst>
              <a:path w="7016811" h="2571404">
                <a:moveTo>
                  <a:pt x="0" y="0"/>
                </a:moveTo>
                <a:lnTo>
                  <a:pt x="7016811" y="0"/>
                </a:lnTo>
                <a:lnTo>
                  <a:pt x="7016811" y="2571404"/>
                </a:lnTo>
                <a:lnTo>
                  <a:pt x="0" y="25714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r="-6066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386330" y="2042025"/>
            <a:ext cx="8589662" cy="6442746"/>
          </a:xfrm>
          <a:custGeom>
            <a:avLst/>
            <a:gdLst/>
            <a:ahLst/>
            <a:cxnLst/>
            <a:rect l="l" t="t" r="r" b="b"/>
            <a:pathLst>
              <a:path w="8589662" h="6442746">
                <a:moveTo>
                  <a:pt x="0" y="0"/>
                </a:moveTo>
                <a:lnTo>
                  <a:pt x="8589662" y="0"/>
                </a:lnTo>
                <a:lnTo>
                  <a:pt x="8589662" y="6442745"/>
                </a:lnTo>
                <a:lnTo>
                  <a:pt x="0" y="644274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t="-1542" r="-3033" b="-1542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269930" y="5116267"/>
            <a:ext cx="3577114" cy="3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Noise map visualisation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95759" y="8471889"/>
            <a:ext cx="2126694" cy="3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FFT Spectrum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id="15" name="Object 15"/>
          <p:cNvGraphicFramePr/>
          <p:nvPr/>
        </p:nvGraphicFramePr>
        <p:xfrm>
          <a:off x="2930525" y="4422056"/>
          <a:ext cx="56578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8" imgW="6781800" imgH="4267200" progId="Excel.Sheet.12">
                  <p:embed/>
                </p:oleObj>
              </mc:Choice>
              <mc:Fallback>
                <p:oleObj name="Worksheet" r:id="rId28" imgW="6781800" imgH="4267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930525" y="4422056"/>
                        <a:ext cx="565785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280812" y="2825300"/>
            <a:ext cx="15813145" cy="111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69"/>
              </a:lnSpc>
              <a:buFont typeface="Arial"/>
              <a:buChar char="•"/>
            </a:pPr>
            <a:r>
              <a:rPr lang="en-US" sz="2199" spc="1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99" u="none" spc="1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validate the strength of the extracted sensor features, two traditional machine learning classifiers were tested- SVM and Random Forest. Both models demonstrated exceptional capability in distinguishing between the three scanner classes (Canon, Epson, HP).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613" y="1620021"/>
            <a:ext cx="13471410" cy="714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53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Analysis - Baseline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74361" y="1973639"/>
            <a:ext cx="8836505" cy="7968899"/>
          </a:xfrm>
          <a:custGeom>
            <a:avLst/>
            <a:gdLst/>
            <a:ahLst/>
            <a:cxnLst/>
            <a:rect l="l" t="t" r="r" b="b"/>
            <a:pathLst>
              <a:path w="8836505" h="7968899">
                <a:moveTo>
                  <a:pt x="0" y="0"/>
                </a:moveTo>
                <a:lnTo>
                  <a:pt x="8836505" y="0"/>
                </a:lnTo>
                <a:lnTo>
                  <a:pt x="8836505" y="7968899"/>
                </a:lnTo>
                <a:lnTo>
                  <a:pt x="0" y="7968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7" r="-113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9649" y="535305"/>
            <a:ext cx="17911600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CNN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9649" y="2467521"/>
            <a:ext cx="6955238" cy="418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914" lvl="1" indent="-264957" algn="l">
              <a:lnSpc>
                <a:spcPts val="3313"/>
              </a:lnSpc>
              <a:buFont typeface="Arial"/>
              <a:buChar char="•"/>
            </a:pPr>
            <a:r>
              <a:rPr lang="en-US" sz="2454" u="none" spc="14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Input: 64 X 64 X 3 image patches.</a:t>
            </a:r>
          </a:p>
          <a:p>
            <a:pPr marL="529914" lvl="1" indent="-264957" algn="l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454" u="none" spc="14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Layers: Conv2D (32/64/128 filters) + BatchNormalization + Global Average Pooling.</a:t>
            </a:r>
          </a:p>
          <a:p>
            <a:pPr marL="529914" lvl="1" indent="-264957" algn="l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454" u="none" spc="14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Regularization: SpatialDropout2D and standard Dropout (to prevent overfitting).</a:t>
            </a:r>
          </a:p>
          <a:p>
            <a:pPr marL="529914" lvl="1" indent="-264957" algn="l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454" u="none" spc="14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Parameters: 110,467 (Efficient &amp; Lightweight).</a:t>
            </a:r>
          </a:p>
          <a:p>
            <a:pPr marL="0" lvl="0" indent="0" algn="l">
              <a:lnSpc>
                <a:spcPts val="3313"/>
              </a:lnSpc>
              <a:spcBef>
                <a:spcPct val="0"/>
              </a:spcBef>
            </a:pPr>
            <a:endParaRPr lang="en-US" sz="2454" u="none" spc="14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717" y="1461710"/>
            <a:ext cx="6512684" cy="9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CNN Results: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916720" y="4539792"/>
            <a:ext cx="5837195" cy="4957035"/>
          </a:xfrm>
          <a:custGeom>
            <a:avLst/>
            <a:gdLst/>
            <a:ahLst/>
            <a:cxnLst/>
            <a:rect l="l" t="t" r="r" b="b"/>
            <a:pathLst>
              <a:path w="5837195" h="4957035">
                <a:moveTo>
                  <a:pt x="0" y="0"/>
                </a:moveTo>
                <a:lnTo>
                  <a:pt x="5837195" y="0"/>
                </a:lnTo>
                <a:lnTo>
                  <a:pt x="5837195" y="4957035"/>
                </a:lnTo>
                <a:lnTo>
                  <a:pt x="0" y="495703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378" r="-378"/>
            </a:stretch>
          </a:blipFill>
        </p:spPr>
      </p:sp>
      <p:graphicFrame>
        <p:nvGraphicFramePr>
          <p:cNvPr id="17" name="Object 17"/>
          <p:cNvGraphicFramePr/>
          <p:nvPr/>
        </p:nvGraphicFramePr>
        <p:xfrm>
          <a:off x="8938166" y="4458772"/>
          <a:ext cx="7543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9" imgW="9042400" imgH="4013200" progId="Excel.Sheet.12">
                  <p:embed/>
                </p:oleObj>
              </mc:Choice>
              <mc:Fallback>
                <p:oleObj name="Worksheet" r:id="rId29" imgW="9042400" imgH="4013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38166" y="4458772"/>
                        <a:ext cx="75438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916720" y="2476500"/>
            <a:ext cx="11750250" cy="198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87" u="none" spc="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Summary:</a:t>
            </a:r>
          </a:p>
          <a:p>
            <a:pPr marL="515413" lvl="1" indent="-257706" algn="l">
              <a:lnSpc>
                <a:spcPts val="3222"/>
              </a:lnSpc>
              <a:spcBef>
                <a:spcPct val="0"/>
              </a:spcBef>
              <a:buFont typeface="Arial"/>
              <a:buChar char="•"/>
            </a:pPr>
            <a:r>
              <a:rPr lang="en-US" sz="2387" u="none" spc="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Overall Accuracy: 98.00%</a:t>
            </a:r>
          </a:p>
          <a:p>
            <a:pPr marL="515413" lvl="1" indent="-257706" algn="l">
              <a:lnSpc>
                <a:spcPts val="3222"/>
              </a:lnSpc>
              <a:spcBef>
                <a:spcPct val="0"/>
              </a:spcBef>
              <a:buFont typeface="Arial"/>
              <a:buChar char="•"/>
            </a:pPr>
            <a:r>
              <a:rPr lang="en-US" sz="2387" u="none" spc="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Dataset Size: 1,920 Total Test Samples (Balanced: 640 per class)</a:t>
            </a:r>
          </a:p>
          <a:p>
            <a:pPr marL="515413" lvl="1" indent="-257706" algn="l">
              <a:lnSpc>
                <a:spcPts val="3222"/>
              </a:lnSpc>
              <a:spcBef>
                <a:spcPct val="0"/>
              </a:spcBef>
              <a:buFont typeface="Arial"/>
              <a:buChar char="•"/>
            </a:pPr>
            <a:r>
              <a:rPr lang="en-US" sz="2387" u="none" spc="14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Weighted F1-Score: 0.98</a:t>
            </a:r>
          </a:p>
          <a:p>
            <a:pPr marL="0" lvl="0" indent="0" algn="just">
              <a:lnSpc>
                <a:spcPts val="3222"/>
              </a:lnSpc>
              <a:spcBef>
                <a:spcPct val="0"/>
              </a:spcBef>
            </a:pPr>
            <a:endParaRPr lang="en-US" sz="2387" u="none" spc="14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498504" y="2784533"/>
            <a:ext cx="7248259" cy="6473767"/>
          </a:xfrm>
          <a:custGeom>
            <a:avLst/>
            <a:gdLst/>
            <a:ahLst/>
            <a:cxnLst/>
            <a:rect l="l" t="t" r="r" b="b"/>
            <a:pathLst>
              <a:path w="7248259" h="6473767">
                <a:moveTo>
                  <a:pt x="0" y="0"/>
                </a:moveTo>
                <a:lnTo>
                  <a:pt x="7248259" y="0"/>
                </a:lnTo>
                <a:lnTo>
                  <a:pt x="7248259" y="6473767"/>
                </a:lnTo>
                <a:lnTo>
                  <a:pt x="0" y="647376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46692" r="-3851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227339" y="2784533"/>
            <a:ext cx="7481354" cy="6491286"/>
          </a:xfrm>
          <a:custGeom>
            <a:avLst/>
            <a:gdLst/>
            <a:ahLst/>
            <a:cxnLst/>
            <a:rect l="l" t="t" r="r" b="b"/>
            <a:pathLst>
              <a:path w="7481354" h="6491286">
                <a:moveTo>
                  <a:pt x="0" y="0"/>
                </a:moveTo>
                <a:lnTo>
                  <a:pt x="7481355" y="0"/>
                </a:lnTo>
                <a:lnTo>
                  <a:pt x="7481355" y="6491286"/>
                </a:lnTo>
                <a:lnTo>
                  <a:pt x="0" y="649128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39400" t="-341" r="-36970" b="-183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1686696"/>
            <a:ext cx="4093934" cy="90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Working: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3153" y="1771650"/>
            <a:ext cx="8751165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4627" y="3859796"/>
            <a:ext cx="14321464" cy="3162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3242" lvl="1" indent="-256621" algn="l">
              <a:lnSpc>
                <a:spcPts val="3209"/>
              </a:lnSpc>
              <a:spcBef>
                <a:spcPct val="0"/>
              </a:spcBef>
              <a:buFont typeface="Arial"/>
              <a:buChar char="•"/>
            </a:pPr>
            <a:r>
              <a:rPr lang="en-US" sz="2377" spc="1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Succ</a:t>
            </a:r>
            <a:r>
              <a:rPr lang="en-US" sz="2377" u="none" spc="1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essful Attribution: Demonstrated that microscopic sensor fingerprints are unique and identifiable across different scanner hardware with 98-99% accuracy.</a:t>
            </a:r>
          </a:p>
          <a:p>
            <a:pPr marL="513242" lvl="1" indent="-256621" algn="l">
              <a:lnSpc>
                <a:spcPts val="3209"/>
              </a:lnSpc>
              <a:spcBef>
                <a:spcPct val="0"/>
              </a:spcBef>
              <a:buFont typeface="Arial"/>
              <a:buChar char="•"/>
            </a:pPr>
            <a:r>
              <a:rPr lang="en-US" sz="2377" u="none" spc="1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Baseline vs. Deep Learning: Traditional ML (SVM) provides a high-accuracy benchmark, while the CNN architecture offers a scalable, automated solution for raw image forensic analysis.</a:t>
            </a:r>
          </a:p>
          <a:p>
            <a:pPr marL="513242" lvl="1" indent="-256621" algn="l">
              <a:lnSpc>
                <a:spcPts val="3209"/>
              </a:lnSpc>
              <a:spcBef>
                <a:spcPct val="0"/>
              </a:spcBef>
              <a:buFont typeface="Arial"/>
              <a:buChar char="•"/>
            </a:pPr>
            <a:r>
              <a:rPr lang="en-US" sz="2377" u="none" spc="1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End-to-End Solution: Developed a functional Streamlit application capable of real-time hardware identification for digital forensic investigations.</a:t>
            </a: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endParaRPr lang="en-US" sz="2377" u="none" spc="142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10718" y="2839735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1495482" y="3414855"/>
            <a:ext cx="6239046" cy="4351735"/>
          </a:xfrm>
          <a:custGeom>
            <a:avLst/>
            <a:gdLst/>
            <a:ahLst/>
            <a:cxnLst/>
            <a:rect l="l" t="t" r="r" b="b"/>
            <a:pathLst>
              <a:path w="6239046" h="4351735">
                <a:moveTo>
                  <a:pt x="0" y="0"/>
                </a:moveTo>
                <a:lnTo>
                  <a:pt x="6239046" y="0"/>
                </a:lnTo>
                <a:lnTo>
                  <a:pt x="6239046" y="4351735"/>
                </a:lnTo>
                <a:lnTo>
                  <a:pt x="0" y="4351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8959" y="1662445"/>
            <a:ext cx="8751165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Outlook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13262"/>
            <a:ext cx="10466782" cy="441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124" lvl="1" indent="-269562" algn="l">
              <a:lnSpc>
                <a:spcPts val="3495"/>
              </a:lnSpc>
              <a:buFont typeface="Arial"/>
              <a:buChar char="•"/>
            </a:pPr>
            <a:r>
              <a:rPr lang="en-US" sz="2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Device Expansion: Scale the dataset to include high-end office photocopiers and smartphone camera sensors to address the rise in mobile document scanning.</a:t>
            </a:r>
          </a:p>
          <a:p>
            <a:pPr marL="539124" lvl="1" indent="-269562" algn="l">
              <a:lnSpc>
                <a:spcPts val="3495"/>
              </a:lnSpc>
              <a:buFont typeface="Arial"/>
              <a:buChar char="•"/>
            </a:pPr>
            <a:r>
              <a:rPr lang="en-US" sz="2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Document Integrity Mapping: Implement Localized Tamper Detection. If a document contains a signature scanned on a different device than the body of the text, the system could flag the specific region as a mismatch.</a:t>
            </a:r>
          </a:p>
          <a:p>
            <a:pPr marL="539124" lvl="1" indent="-269562" algn="l">
              <a:lnSpc>
                <a:spcPts val="3495"/>
              </a:lnSpc>
              <a:buFont typeface="Arial"/>
              <a:buChar char="•"/>
            </a:pPr>
            <a:r>
              <a:rPr lang="en-US" sz="24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AI-Generated Detection: Integrate "Synthetic Trace" detection to distinguish between real physical scans and AI-generated document forgeries.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88802" y="3824729"/>
            <a:ext cx="10910396" cy="175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622</Words>
  <Application>Microsoft Office PowerPoint</Application>
  <PresentationFormat>Custom</PresentationFormat>
  <Paragraphs>59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Open Sans Light</vt:lpstr>
      <vt:lpstr>Arial</vt:lpstr>
      <vt:lpstr>DM Sans Bold</vt:lpstr>
      <vt:lpstr>Open Sans Bold</vt:lpstr>
      <vt:lpstr>DM Sans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cp:lastModifiedBy>Ann Flo Poonolil</cp:lastModifiedBy>
  <cp:revision>3</cp:revision>
  <dcterms:created xsi:type="dcterms:W3CDTF">2006-08-16T00:00:00Z</dcterms:created>
  <dcterms:modified xsi:type="dcterms:W3CDTF">2026-01-26T06:24:49Z</dcterms:modified>
  <dc:identifier>DAG_Zvhm8xs</dc:identifier>
</cp:coreProperties>
</file>